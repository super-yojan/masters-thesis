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768ad097c94eec" /><Relationship Type="http://schemas.openxmlformats.org/officeDocument/2006/relationships/extended-properties" Target="/docProps/app.xml" Id="Re19ca10753864025" /><Relationship Type="http://schemas.openxmlformats.org/officeDocument/2006/relationships/officeDocument" Target="/ppt/presentation.xml" Id="R78ca2229e12a4dae" /></Relationships>
</file>

<file path=ppt/presentation.xml><?xml version="1.0" encoding="utf-8"?>
<p:presentation xmlns:p="http://schemas.openxmlformats.org/presentationml/2006/main">
  <p:sldMasterIdLst>
    <p:sldMasterId xmlns:r="http://schemas.openxmlformats.org/officeDocument/2006/relationships" id="2147483648" r:id="R967ab1a0455d45d2"/>
  </p:sldMasterIdLst>
  <p:notesMasterIdLst>
    <p:notesMasterId xmlns:r="http://schemas.openxmlformats.org/officeDocument/2006/relationships" r:id="Rb34488bbdcb44b81"/>
  </p:notesMasterIdLst>
  <p:sldIdLst>
    <p:sldId xmlns:r="http://schemas.openxmlformats.org/officeDocument/2006/relationships" id="256" r:id="R14f20bf309e64293"/>
    <p:sldId xmlns:r="http://schemas.openxmlformats.org/officeDocument/2006/relationships" id="257" r:id="R56b3e1db8adc4cc0"/>
    <p:sldId xmlns:r="http://schemas.openxmlformats.org/officeDocument/2006/relationships" id="258" r:id="R4a4c451626ca4674"/>
    <p:sldId xmlns:r="http://schemas.openxmlformats.org/officeDocument/2006/relationships" id="259" r:id="R633b3596e1ee4663"/>
    <p:sldId xmlns:r="http://schemas.openxmlformats.org/officeDocument/2006/relationships" id="260" r:id="R52a71b47f73f47eb"/>
    <p:sldId xmlns:r="http://schemas.openxmlformats.org/officeDocument/2006/relationships" id="261" r:id="R91d8945149394bd1"/>
    <p:sldId xmlns:r="http://schemas.openxmlformats.org/officeDocument/2006/relationships" id="262" r:id="R06bc7c05659d4933"/>
    <p:sldId xmlns:r="http://schemas.openxmlformats.org/officeDocument/2006/relationships" id="263" r:id="R5b7781d865c14e00"/>
    <p:sldId xmlns:r="http://schemas.openxmlformats.org/officeDocument/2006/relationships" id="264" r:id="R198254269b6245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acd6e87716463f" /><Relationship Type="http://schemas.openxmlformats.org/officeDocument/2006/relationships/slideMaster" Target="/ppt/slideMasters/slideMaster1.xml" Id="R967ab1a0455d45d2" /><Relationship Type="http://schemas.openxmlformats.org/officeDocument/2006/relationships/notesMaster" Target="/ppt/notesMasters/notesMaster1.xml" Id="Rb34488bbdcb44b81" /><Relationship Type="http://schemas.openxmlformats.org/officeDocument/2006/relationships/presProps" Target="/ppt/presProps.xml" Id="Rc5202003904e4278" /><Relationship Type="http://schemas.openxmlformats.org/officeDocument/2006/relationships/tableStyles" Target="/ppt/tableStyles.xml" Id="R9c50f5fb3cf24d96" /><Relationship Type="http://schemas.openxmlformats.org/officeDocument/2006/relationships/slide" Target="/ppt/slides/slide1.xml" Id="R14f20bf309e64293" /><Relationship Type="http://schemas.openxmlformats.org/officeDocument/2006/relationships/slide" Target="/ppt/slides/slide2.xml" Id="R56b3e1db8adc4cc0" /><Relationship Type="http://schemas.openxmlformats.org/officeDocument/2006/relationships/slide" Target="/ppt/slides/slide3.xml" Id="R4a4c451626ca4674" /><Relationship Type="http://schemas.openxmlformats.org/officeDocument/2006/relationships/slide" Target="/ppt/slides/slide4.xml" Id="R633b3596e1ee4663" /><Relationship Type="http://schemas.openxmlformats.org/officeDocument/2006/relationships/slide" Target="/ppt/slides/slide5.xml" Id="R52a71b47f73f47eb" /><Relationship Type="http://schemas.openxmlformats.org/officeDocument/2006/relationships/slide" Target="/ppt/slides/slide6.xml" Id="R91d8945149394bd1" /><Relationship Type="http://schemas.openxmlformats.org/officeDocument/2006/relationships/slide" Target="/ppt/slides/slide7.xml" Id="R06bc7c05659d4933" /><Relationship Type="http://schemas.openxmlformats.org/officeDocument/2006/relationships/slide" Target="/ppt/slides/slide8.xml" Id="R5b7781d865c14e00" /><Relationship Type="http://schemas.openxmlformats.org/officeDocument/2006/relationships/slide" Target="/ppt/slides/slide9.xml" Id="R198254269b6245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214bb8ff4148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a071faceea49b8" /><Relationship Type="http://schemas.openxmlformats.org/officeDocument/2006/relationships/notesMaster" Target="/ppt/notesMasters/notesMaster1.xml" Id="Rd1b030b83ef54b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d461d003ee4f83" /><Relationship Type="http://schemas.openxmlformats.org/officeDocument/2006/relationships/notesMaster" Target="/ppt/notesMasters/notesMaster1.xml" Id="R2d6c59634f8541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cbe217b87f4ef9" /><Relationship Type="http://schemas.openxmlformats.org/officeDocument/2006/relationships/notesMaster" Target="/ppt/notesMasters/notesMaster1.xml" Id="R0f3038d81ad74d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7cc95e6daf4ec3" /><Relationship Type="http://schemas.openxmlformats.org/officeDocument/2006/relationships/notesMaster" Target="/ppt/notesMasters/notesMaster1.xml" Id="Rbbde2f3035c04d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a2a30728984d39" /><Relationship Type="http://schemas.openxmlformats.org/officeDocument/2006/relationships/notesMaster" Target="/ppt/notesMasters/notesMaster1.xml" Id="R93eb00805f9243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abcfd3aeff4890" /><Relationship Type="http://schemas.openxmlformats.org/officeDocument/2006/relationships/notesMaster" Target="/ppt/notesMasters/notesMaster1.xml" Id="R98df56315d0049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60d2d45e9647ae" /><Relationship Type="http://schemas.openxmlformats.org/officeDocument/2006/relationships/notesMaster" Target="/ppt/notesMasters/notesMaster1.xml" Id="R26a2e38f7d0b45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f2c969ff0441be" /><Relationship Type="http://schemas.openxmlformats.org/officeDocument/2006/relationships/notesMaster" Target="/ppt/notesMasters/notesMaster1.xml" Id="R39e1464c796748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ba5777aa334e5e" /><Relationship Type="http://schemas.openxmlformats.org/officeDocument/2006/relationships/notesMaster" Target="/ppt/notesMasters/notesMaster1.xml" Id="R3f5d0160271349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summarizes the current implementation documented in the local Terra repository and the thesis materials. It presents an implementation progress report, not completed human-study findings.</a:t>
            </a:r>
          </a:p>
          <a:p xmlns:a="http://schemas.openxmlformats.org/drawingml/2006/main">
            <a:r>
              <a:t/>
            </a:r>
          </a:p>
          <a:p xmlns:a="http://schemas.openxmlformats.org/drawingml/2006/main">
            <a:r>
              <a:t>Sources: Terra/README.md; Masters-Thesis/docs/ARGOS_CURRENT_SUMMARY.md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question concerns scalable human supervision. Candidate fleet sizes in the working summary are 1, 2, 4, 8 and 16, but these are proposed conditions. No comparative human-study result is claimed. The latest implementation has four named modes, which should not be confused with the older conceptual L0–L5 taxonomy.</a:t>
            </a:r>
          </a:p>
          <a:p xmlns:a="http://schemas.openxmlformats.org/drawingml/2006/main">
            <a:r>
              <a:t/>
            </a:r>
          </a:p>
          <a:p xmlns:a="http://schemas.openxmlformats.org/drawingml/2006/main">
            <a:r>
              <a:t>Sources: Masters-Thesis/docs/ARGOS_CURRENT_SUMMARY.md; Terra/docs/autonomy/README.md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 owns local sensing, mapping, planning, control and safety. ARGOS owns operator interaction and fleet supervision. The portable autonomy arbiter runs in both the simulator and the phone adapter. The workspace currently contains 11 Rust crates. ARGOS capability statements come from the Terra acceptance-evidence document, not a fresh inspection of its separate repository.</a:t>
            </a:r>
          </a:p>
          <a:p xmlns:a="http://schemas.openxmlformats.org/drawingml/2006/main">
            <a:r>
              <a:t/>
            </a:r>
          </a:p>
          <a:p xmlns:a="http://schemas.openxmlformats.org/drawingml/2006/main">
            <a:r>
              <a:t>Sources: Terra/Cargo.toml; Terra/docs/autonomy/README.md; Terra/docs/autonomy/evidence/README.md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the repository preview of the practice world, not the disaster-search mission. The practice square defaults to 100 m. Optional Terrarium elevation tiles provide an elevation-colored flat patch with slope obstacles, not full physical terrain or satellite imagery. Simulation rendering and fidelity follow the research question.</a:t>
            </a:r>
          </a:p>
          <a:p xmlns:a="http://schemas.openxmlformats.org/drawingml/2006/main">
            <a:r>
              <a:t/>
            </a:r>
          </a:p>
          <a:p xmlns:a="http://schemas.openxmlformats.org/drawingml/2006/main">
            <a:r>
              <a:t>Sources: Terra/simulator/docs/world-preview.png; Terra/simulator/WORLD.md; Terra/README.md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modes use the common authority arbiter. The runtime does not automatically choose an optimal autonomy level. Supervised frontier proposals require approval and revalidation against the latest observed free map. The mode names reflect the current implementation.</a:t>
            </a:r>
          </a:p>
          <a:p xmlns:a="http://schemas.openxmlformats.org/drawingml/2006/main">
            <a:r>
              <a:t/>
            </a:r>
          </a:p>
          <a:p xmlns:a="http://schemas.openxmlformats.org/drawingml/2006/main">
            <a:r>
              <a:t>Sources: Terra/docs/autonomy/README.md; Terra/docs/autonomy/evidence/README.md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TerraPhone supports mode, stop and proposal controls. Remote-supervisor mode sends goals and intent to the simulator, avoiding a second phone waypoint controller for the same rover. Depthless devices hold map-dependent levels. Phone contact sensing is unavailable and must never appear as zero collisions. The optional phone control endpoint is loopback-only. Physical robot capability is not established by simulator or build evidence.</a:t>
            </a:r>
          </a:p>
          <a:p xmlns:a="http://schemas.openxmlformats.org/drawingml/2006/main">
            <a:r>
              <a:t/>
            </a:r>
          </a:p>
          <a:p xmlns:a="http://schemas.openxmlformats.org/drawingml/2006/main">
            <a:r>
              <a:t>Sources: Terra/docs/autonomy/README.md; Terra/docs/autonomy/evidence/README.md; Terra/docs/MOBILE_CONTROL.md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and completed actions are reported by the acceptance-evidence README for a local seed-42 two-rover run through an ARGOS Rust/Zenoh client on port 7448. The JSON evidence is described as residing in the companion ARGOS branch and was not independently rerun for this deck. A component replay and connected control flow do not establish successful operator-study trials. No comparative workload or physical-robot result is claimed.</a:t>
            </a:r>
          </a:p>
          <a:p xmlns:a="http://schemas.openxmlformats.org/drawingml/2006/main">
            <a:r>
              <a:t/>
            </a:r>
          </a:p>
          <a:p xmlns:a="http://schemas.openxmlformats.org/drawingml/2006/main">
            <a:r>
              <a:t>Sources: Terra/docs/autonomy/evidence/README.md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seed-based disaster-search world contains broken walls, a chokepoint, rubble and alternate routes. Targets remain hidden until within 5 m and the complete occupancy ray is observed free. Observing rovers must return within 2 m of the origin. These are simulation rules, not a validated survivor detector. Fixed assignment and adaptive switching are separately recorded. Complete-data recording and mission success are separate outcomes. The planned study may use NASA-TLX or a similar workload instrument.</a:t>
            </a:r>
          </a:p>
          <a:p xmlns:a="http://schemas.openxmlformats.org/drawingml/2006/main">
            <a:r>
              <a:t/>
            </a:r>
          </a:p>
          <a:p xmlns:a="http://schemas.openxmlformats.org/drawingml/2006/main">
            <a:r>
              <a:t>Sources: Terra/docs/autonomy/README.md; Masters-Thesis/docs/ARGOS_CURRENT_SUMMARY.md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establishes a platform for experiments. The remaining empirical work includes complete fixed/adaptive trials, subjective workload questionnaires, native device interaction checks and physical validation. The thesis repository holds the outline and Paper 1 introduction/problem-formulation drafts. Papers 2 and 3 remain placeholders. Collaborative mapping, fleet attention scheduling, natural-language commands and phone-local VLA are research directions, not completed capabilities claimed here.</a:t>
            </a:r>
          </a:p>
          <a:p xmlns:a="http://schemas.openxmlformats.org/drawingml/2006/main">
            <a:r>
              <a:t/>
            </a:r>
          </a:p>
          <a:p xmlns:a="http://schemas.openxmlformats.org/drawingml/2006/main">
            <a:r>
              <a:t>Sources: Terra/docs/autonomy/evidence/README.md; Masters-Thesis/README.md; Masters-Thesis/docs/ARGOS_CURRENT_SUMMARY.md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1b9c5310764c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7bd979c2724495" /><Relationship Type="http://schemas.openxmlformats.org/officeDocument/2006/relationships/slideLayout" Target="/ppt/slideLayouts/slideLayout1.xml" Id="Rd585269100454d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85269100454d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28852ab3a14cb5" /><Relationship Type="http://schemas.openxmlformats.org/officeDocument/2006/relationships/notesSlide" Target="/ppt/notesSlides/notesSlide1.xml" Id="Rff0f6a4dcb1447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687ec3784a4038" /><Relationship Type="http://schemas.openxmlformats.org/officeDocument/2006/relationships/notesSlide" Target="/ppt/notesSlides/notesSlide2.xml" Id="R7e07f2a9569b49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e9044a96044fbb" /><Relationship Type="http://schemas.openxmlformats.org/officeDocument/2006/relationships/notesSlide" Target="/ppt/notesSlides/notesSlide3.xml" Id="R63687d764ad74a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d0447c7a4c4b85" /><Relationship Type="http://schemas.openxmlformats.org/officeDocument/2006/relationships/image" Target="/ppt/media/image.png" Id="Rbf0034adbd2049d3" /><Relationship Type="http://schemas.openxmlformats.org/officeDocument/2006/relationships/notesSlide" Target="/ppt/notesSlides/notesSlide4.xml" Id="Rceaa862701354c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46fa51bd264972" /><Relationship Type="http://schemas.openxmlformats.org/officeDocument/2006/relationships/notesSlide" Target="/ppt/notesSlides/notesSlide5.xml" Id="R8831a9a73fcc4f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c669fd41cb4baf" /><Relationship Type="http://schemas.openxmlformats.org/officeDocument/2006/relationships/notesSlide" Target="/ppt/notesSlides/notesSlide6.xml" Id="Rfec558c5cf494e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202e685d56412c" /><Relationship Type="http://schemas.openxmlformats.org/officeDocument/2006/relationships/notesSlide" Target="/ppt/notesSlides/notesSlide7.xml" Id="R03c342669cc943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fa129cddf84b68" /><Relationship Type="http://schemas.openxmlformats.org/officeDocument/2006/relationships/notesSlide" Target="/ppt/notesSlides/notesSlide8.xml" Id="Reb23e92fdc9942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632b2242a940d6" /><Relationship Type="http://schemas.openxmlformats.org/officeDocument/2006/relationships/notesSlide" Target="/ppt/notesSlides/notesSlide9.xml" Id="Rfab02ed2ebcc4f75" /></Relationships>
</file>

<file path=ppt/slides/slide1.xml><?xml version="1.0" encoding="utf-8"?>
<p:sld xmlns:p="http://schemas.openxmlformats.org/presentationml/2006/main">
  <p:cSld>
    <p:bg>
      <p:bgPr>
        <a:solidFill xmlns:a="http://schemas.openxmlformats.org/drawingml/2006/main">
          <a:srgbClr val="17162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369B71-BCB6-44DD-ADC6-AD439D29477C}"/>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1F1EF"/>
                </a:solidFill>
                <a:latin typeface="DM Sans"/>
                <a:ea typeface="DM Sans"/>
                <a:cs typeface="DM Sans"/>
              </a:defRPr>
            </a:pPr>
            <a:r>
              <a:rPr sz="3600" b="1">
                <a:solidFill>
                  <a:srgbClr val="F1F1EF"/>
                </a:solidFill>
                <a:latin typeface="DM Sans"/>
                <a:ea typeface="DM Sans"/>
                <a:cs typeface="DM Sans"/>
              </a:rPr>
              <a:t>ARGOS + Terra</a:t>
            </a:r>
          </a:p>
        </p:txBody>
      </p:sp>
      <p:sp>
        <p:nvSpPr>
          <p:cNvPr id="2" name="">
            <a:extLst xmlns:a="http://schemas.openxmlformats.org/drawingml/2006/main">
              <a:ext uri="{FF2B5EF4-FFF2-40B4-BE49-F238E27FC236}">
                <a16:creationId xmlns:a16="http://schemas.microsoft.com/office/drawing/2014/main" id="{D276FE97-112E-4A9C-AF33-C9789B8A2679}"/>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1F1EF"/>
                </a:solidFill>
                <a:latin typeface="DM Sans"/>
                <a:ea typeface="DM Sans"/>
                <a:cs typeface="DM Sans"/>
              </a:defRPr>
            </a:pPr>
            <a:r>
              <a:rPr sz="1200" b="0">
                <a:solidFill>
                  <a:srgbClr val="F1F1EF"/>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347CB8F5-0D84-41CB-885A-A3F08A12EB29}"/>
              </a:ext>
            </a:extLst>
          </p:cNvPr>
          <p:cNvSpPr>
            <a:spLocks xmlns:a="http://schemas.openxmlformats.org/drawingml/2006/main" noGrp="1"/>
          </p:cNvSpPr>
          <p:nvPr/>
        </p:nvSpPr>
        <p:spPr>
          <a:xfrm xmlns:a="http://schemas.openxmlformats.org/drawingml/2006/main">
            <a:off x="685800" y="2000250"/>
            <a:ext cx="1047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1F1EF"/>
                </a:solidFill>
                <a:latin typeface="DM Sans"/>
                <a:ea typeface="DM Sans"/>
                <a:cs typeface="DM Sans"/>
              </a:defRPr>
            </a:pPr>
            <a:r>
              <a:rPr sz="4800" b="1">
                <a:solidFill>
                  <a:srgbClr val="F1F1EF"/>
                </a:solidFill>
                <a:latin typeface="DM Sans"/>
                <a:ea typeface="DM Sans"/>
                <a:cs typeface="DM Sans"/>
              </a:rPr>
              <a:t>A working foundation for</a:t>
            </a:r>
          </a:p>
          <a:p xmlns:a="http://schemas.openxmlformats.org/drawingml/2006/main">
            <a:pPr>
              <a:defRPr sz="4800" b="1">
                <a:solidFill>
                  <a:srgbClr val="F1F1EF"/>
                </a:solidFill>
                <a:latin typeface="DM Sans"/>
                <a:ea typeface="DM Sans"/>
                <a:cs typeface="DM Sans"/>
              </a:defRPr>
            </a:pPr>
            <a:r>
              <a:rPr sz="4800" b="1">
                <a:solidFill>
                  <a:srgbClr val="F1F1EF"/>
                </a:solidFill>
                <a:latin typeface="DM Sans"/>
                <a:ea typeface="DM Sans"/>
                <a:cs typeface="DM Sans"/>
              </a:rPr>
              <a:t>phone-powered robot fleets</a:t>
            </a:r>
          </a:p>
        </p:txBody>
      </p:sp>
      <p:sp>
        <p:nvSpPr>
          <p:cNvPr id="4" name="">
            <a:extLst xmlns:a="http://schemas.openxmlformats.org/drawingml/2006/main">
              <a:ext uri="{FF2B5EF4-FFF2-40B4-BE49-F238E27FC236}">
                <a16:creationId xmlns:a16="http://schemas.microsoft.com/office/drawing/2014/main" id="{59A1D918-A0E7-41D5-AB15-1B7357329083}"/>
              </a:ext>
            </a:extLst>
          </p:cNvPr>
          <p:cNvSpPr>
            <a:spLocks xmlns:a="http://schemas.openxmlformats.org/drawingml/2006/main" noGrp="1"/>
          </p:cNvSpPr>
          <p:nvPr/>
        </p:nvSpPr>
        <p:spPr>
          <a:xfrm xmlns:a="http://schemas.openxmlformats.org/drawingml/2006/main">
            <a:off x="685800" y="46482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1F1EF"/>
                </a:solidFill>
                <a:latin typeface="DM Sans"/>
                <a:ea typeface="DM Sans"/>
                <a:cs typeface="DM Sans"/>
              </a:defRPr>
            </a:pPr>
            <a:r>
              <a:rPr sz="2250" b="0">
                <a:solidFill>
                  <a:srgbClr val="F1F1EF"/>
                </a:solidFill>
                <a:latin typeface="DM Sans"/>
                <a:ea typeface="DM Sans"/>
                <a:cs typeface="DM Sans"/>
              </a:rPr>
              <a:t>Master’s thesis progress</a:t>
            </a:r>
          </a:p>
        </p:txBody>
      </p:sp>
      <p:sp>
        <p:nvSpPr>
          <p:cNvPr id="5" name="">
            <a:extLst xmlns:a="http://schemas.openxmlformats.org/drawingml/2006/main">
              <a:ext uri="{FF2B5EF4-FFF2-40B4-BE49-F238E27FC236}">
                <a16:creationId xmlns:a16="http://schemas.microsoft.com/office/drawing/2014/main" id="{C19348C8-7F44-4423-8D60-C51E4579F8BD}"/>
              </a:ext>
            </a:extLst>
          </p:cNvPr>
          <p:cNvSpPr>
            <a:spLocks xmlns:a="http://schemas.openxmlformats.org/drawingml/2006/main" noGrp="1"/>
          </p:cNvSpPr>
          <p:nvPr/>
        </p:nvSpPr>
        <p:spPr>
          <a:xfrm xmlns:a="http://schemas.openxmlformats.org/drawingml/2006/main">
            <a:off x="685800" y="54102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4C3CD"/>
                </a:solidFill>
                <a:latin typeface="DM Sans"/>
                <a:ea typeface="DM Sans"/>
                <a:cs typeface="DM Sans"/>
              </a:defRPr>
            </a:pPr>
            <a:r>
              <a:rPr sz="1725" b="0">
                <a:solidFill>
                  <a:srgbClr val="C4C3CD"/>
                </a:solidFill>
                <a:latin typeface="DM Sans"/>
                <a:ea typeface="DM Sans"/>
                <a:cs typeface="DM Sans"/>
              </a:rPr>
              <a:t>Yojan Gautam · October 6, 2026</a:t>
            </a:r>
          </a:p>
        </p:txBody>
      </p:sp>
    </p:spTree>
    <p:extLst>
      <p:ext uri="{BB962C8B-B14F-4D97-AF65-F5344CB8AC3E}">
        <p14:creationId xmlns:p14="http://schemas.microsoft.com/office/powerpoint/2010/main" val="309750428"/>
      </p:ext>
    </p:extLst>
  </p:cSld>
</p:sld>
</file>

<file path=ppt/slides/slide2.xml><?xml version="1.0" encoding="utf-8"?>
<p:sld xmlns:p="http://schemas.openxmlformats.org/presentationml/2006/main">
  <p:cSld>
    <p:bg>
      <p:bgPr>
        <a:solidFill xmlns:a="http://schemas.openxmlformats.org/drawingml/2006/main">
          <a:srgbClr val="1716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0348E8-EF9D-40C8-9D8B-C9689EDB2BE3}"/>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1F1EF"/>
                </a:solidFill>
                <a:latin typeface="DM Sans"/>
                <a:ea typeface="DM Sans"/>
                <a:cs typeface="DM Sans"/>
              </a:defRPr>
            </a:pPr>
            <a:r>
              <a:rPr sz="3600" b="1">
                <a:solidFill>
                  <a:srgbClr val="F1F1EF"/>
                </a:solidFill>
                <a:latin typeface="DM Sans"/>
                <a:ea typeface="DM Sans"/>
                <a:cs typeface="DM Sans"/>
              </a:rPr>
              <a:t>The research question</a:t>
            </a:r>
          </a:p>
        </p:txBody>
      </p:sp>
      <p:sp>
        <p:nvSpPr>
          <p:cNvPr id="2" name="">
            <a:extLst xmlns:a="http://schemas.openxmlformats.org/drawingml/2006/main">
              <a:ext uri="{FF2B5EF4-FFF2-40B4-BE49-F238E27FC236}">
                <a16:creationId xmlns:a16="http://schemas.microsoft.com/office/drawing/2014/main" id="{3ACC88F1-CCF7-4528-B9A0-BED0B4C28158}"/>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1F1EF"/>
                </a:solidFill>
                <a:latin typeface="DM Sans"/>
                <a:ea typeface="DM Sans"/>
                <a:cs typeface="DM Sans"/>
              </a:defRPr>
            </a:pPr>
            <a:r>
              <a:rPr sz="1200" b="0">
                <a:solidFill>
                  <a:srgbClr val="F1F1EF"/>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B4E5BAE8-FD82-4EF2-9D8B-3B1EB7020990}"/>
              </a:ext>
            </a:extLst>
          </p:cNvPr>
          <p:cNvSpPr>
            <a:spLocks xmlns:a="http://schemas.openxmlformats.org/drawingml/2006/main" noGrp="1"/>
          </p:cNvSpPr>
          <p:nvPr/>
        </p:nvSpPr>
        <p:spPr>
          <a:xfrm xmlns:a="http://schemas.openxmlformats.org/drawingml/2006/main">
            <a:off x="685800" y="2000250"/>
            <a:ext cx="10477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1F1EF"/>
                </a:solidFill>
                <a:latin typeface="DM Sans"/>
                <a:ea typeface="DM Sans"/>
                <a:cs typeface="DM Sans"/>
              </a:defRPr>
            </a:pPr>
            <a:r>
              <a:rPr sz="4200" b="1">
                <a:solidFill>
                  <a:srgbClr val="F1F1EF"/>
                </a:solidFill>
                <a:latin typeface="DM Sans"/>
                <a:ea typeface="DM Sans"/>
                <a:cs typeface="DM Sans"/>
              </a:rPr>
              <a:t>How much local autonomy does</a:t>
            </a:r>
          </a:p>
          <a:p xmlns:a="http://schemas.openxmlformats.org/drawingml/2006/main">
            <a:pPr>
              <a:defRPr sz="4200" b="1">
                <a:solidFill>
                  <a:srgbClr val="F1F1EF"/>
                </a:solidFill>
                <a:latin typeface="DM Sans"/>
                <a:ea typeface="DM Sans"/>
                <a:cs typeface="DM Sans"/>
              </a:defRPr>
            </a:pPr>
            <a:r>
              <a:rPr sz="4200" b="1">
                <a:solidFill>
                  <a:srgbClr val="F1F1EF"/>
                </a:solidFill>
                <a:latin typeface="DM Sans"/>
                <a:ea typeface="DM Sans"/>
                <a:cs typeface="DM Sans"/>
              </a:rPr>
              <a:t>one operator need to supervise</a:t>
            </a:r>
          </a:p>
          <a:p xmlns:a="http://schemas.openxmlformats.org/drawingml/2006/main">
            <a:pPr>
              <a:defRPr sz="4200" b="1">
                <a:solidFill>
                  <a:srgbClr val="F1F1EF"/>
                </a:solidFill>
                <a:latin typeface="DM Sans"/>
                <a:ea typeface="DM Sans"/>
                <a:cs typeface="DM Sans"/>
              </a:defRPr>
            </a:pPr>
            <a:r>
              <a:rPr sz="4200" b="1">
                <a:solidFill>
                  <a:srgbClr val="F1F1EF"/>
                </a:solidFill>
                <a:latin typeface="DM Sans"/>
                <a:ea typeface="DM Sans"/>
                <a:cs typeface="DM Sans"/>
              </a:rPr>
              <a:t>a growing robot fleet?</a:t>
            </a:r>
          </a:p>
        </p:txBody>
      </p:sp>
      <p:sp>
        <p:nvSpPr>
          <p:cNvPr id="4" name="">
            <a:extLst xmlns:a="http://schemas.openxmlformats.org/drawingml/2006/main">
              <a:ext uri="{FF2B5EF4-FFF2-40B4-BE49-F238E27FC236}">
                <a16:creationId xmlns:a16="http://schemas.microsoft.com/office/drawing/2014/main" id="{0D4045D5-C2C5-4E12-9A06-89535797B6E0}"/>
              </a:ext>
            </a:extLst>
          </p:cNvPr>
          <p:cNvSpPr>
            <a:spLocks xmlns:a="http://schemas.openxmlformats.org/drawingml/2006/main" noGrp="1"/>
          </p:cNvSpPr>
          <p:nvPr/>
        </p:nvSpPr>
        <p:spPr>
          <a:xfrm xmlns:a="http://schemas.openxmlformats.org/drawingml/2006/main">
            <a:off x="685800" y="4857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1F1EF"/>
                </a:solidFill>
                <a:latin typeface="DM Sans"/>
                <a:ea typeface="DM Sans"/>
                <a:cs typeface="DM Sans"/>
              </a:defRPr>
            </a:pPr>
            <a:r>
              <a:rPr sz="2100" b="0">
                <a:solidFill>
                  <a:srgbClr val="F1F1EF"/>
                </a:solidFill>
                <a:latin typeface="DM Sans"/>
                <a:ea typeface="DM Sans"/>
                <a:cs typeface="DM Sans"/>
              </a:rPr>
              <a:t>The study will vary fleet size and autonomy level, then measure</a:t>
            </a:r>
          </a:p>
          <a:p xmlns:a="http://schemas.openxmlformats.org/drawingml/2006/main">
            <a:pPr>
              <a:defRPr sz="2100" b="0">
                <a:solidFill>
                  <a:srgbClr val="F1F1EF"/>
                </a:solidFill>
                <a:latin typeface="DM Sans"/>
                <a:ea typeface="DM Sans"/>
                <a:cs typeface="DM Sans"/>
              </a:defRPr>
            </a:pPr>
            <a:r>
              <a:rPr sz="2100" b="0">
                <a:solidFill>
                  <a:srgbClr val="F1F1EF"/>
                </a:solidFill>
                <a:latin typeface="DM Sans"/>
                <a:ea typeface="DM Sans"/>
                <a:cs typeface="DM Sans"/>
              </a:rPr>
              <a:t>operator workload and mission performance.</a:t>
            </a:r>
          </a:p>
        </p:txBody>
      </p:sp>
    </p:spTree>
    <p:extLst>
      <p:ext uri="{BB962C8B-B14F-4D97-AF65-F5344CB8AC3E}">
        <p14:creationId xmlns:p14="http://schemas.microsoft.com/office/powerpoint/2010/main" val="420361966"/>
      </p:ext>
    </p:extLst>
  </p:cSld>
</p:sld>
</file>

<file path=ppt/slides/slide3.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031F95-1B34-432A-8C41-EB754F7F87B1}"/>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629"/>
                </a:solidFill>
                <a:latin typeface="DM Sans"/>
                <a:ea typeface="DM Sans"/>
                <a:cs typeface="DM Sans"/>
              </a:defRPr>
            </a:pPr>
            <a:r>
              <a:rPr sz="3600" b="1">
                <a:solidFill>
                  <a:srgbClr val="171629"/>
                </a:solidFill>
                <a:latin typeface="DM Sans"/>
                <a:ea typeface="DM Sans"/>
                <a:cs typeface="DM Sans"/>
              </a:rPr>
              <a:t>One autonomy core, two runtime adapters</a:t>
            </a:r>
          </a:p>
        </p:txBody>
      </p:sp>
      <p:sp>
        <p:nvSpPr>
          <p:cNvPr id="2" name="">
            <a:extLst xmlns:a="http://schemas.openxmlformats.org/drawingml/2006/main">
              <a:ext uri="{FF2B5EF4-FFF2-40B4-BE49-F238E27FC236}">
                <a16:creationId xmlns:a16="http://schemas.microsoft.com/office/drawing/2014/main" id="{3315DE60-4F2E-47D8-B4DD-169F29BA6280}"/>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F81FAC52-7A31-4BE8-8357-8E9B1B66FE83}"/>
              </a:ext>
            </a:extLst>
          </p:cNvPr>
          <p:cNvSpPr>
            <a:spLocks xmlns:a="http://schemas.openxmlformats.org/drawingml/2006/main" noGrp="1"/>
          </p:cNvSpPr>
          <p:nvPr/>
        </p:nvSpPr>
        <p:spPr>
          <a:xfrm xmlns:a="http://schemas.openxmlformats.org/drawingml/2006/main">
            <a:off x="685800" y="19240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629"/>
                </a:solidFill>
                <a:latin typeface="DM Sans"/>
                <a:ea typeface="DM Sans"/>
                <a:cs typeface="DM Sans"/>
              </a:defRPr>
            </a:pPr>
            <a:r>
              <a:rPr sz="2700" b="1">
                <a:solidFill>
                  <a:srgbClr val="171629"/>
                </a:solidFill>
                <a:latin typeface="DM Sans"/>
                <a:ea typeface="DM Sans"/>
                <a:cs typeface="DM Sans"/>
              </a:rPr>
              <a:t>ARGOS</a:t>
            </a:r>
          </a:p>
        </p:txBody>
      </p:sp>
      <p:sp>
        <p:nvSpPr>
          <p:cNvPr id="4" name="">
            <a:extLst xmlns:a="http://schemas.openxmlformats.org/drawingml/2006/main">
              <a:ext uri="{FF2B5EF4-FFF2-40B4-BE49-F238E27FC236}">
                <a16:creationId xmlns:a16="http://schemas.microsoft.com/office/drawing/2014/main" id="{53FFD209-238A-48FA-BEB8-796878600542}"/>
              </a:ext>
            </a:extLst>
          </p:cNvPr>
          <p:cNvSpPr>
            <a:spLocks xmlns:a="http://schemas.openxmlformats.org/drawingml/2006/main" noGrp="1"/>
          </p:cNvSpPr>
          <p:nvPr/>
        </p:nvSpPr>
        <p:spPr>
          <a:xfrm xmlns:a="http://schemas.openxmlformats.org/drawingml/2006/main">
            <a:off x="685800" y="2571750"/>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Operator control</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Per-rover authority</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Proposal decisions</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Session export</a:t>
            </a:r>
          </a:p>
        </p:txBody>
      </p:sp>
      <p:sp>
        <p:nvSpPr>
          <p:cNvPr id="5" name="">
            <a:extLst xmlns:a="http://schemas.openxmlformats.org/drawingml/2006/main">
              <a:ext uri="{FF2B5EF4-FFF2-40B4-BE49-F238E27FC236}">
                <a16:creationId xmlns:a16="http://schemas.microsoft.com/office/drawing/2014/main" id="{45E6D8C5-B22A-4C6D-AF1E-565810F0925C}"/>
              </a:ext>
            </a:extLst>
          </p:cNvPr>
          <p:cNvSpPr>
            <a:spLocks xmlns:a="http://schemas.openxmlformats.org/drawingml/2006/main" noGrp="1"/>
          </p:cNvSpPr>
          <p:nvPr/>
        </p:nvSpPr>
        <p:spPr>
          <a:xfrm xmlns:a="http://schemas.openxmlformats.org/drawingml/2006/main">
            <a:off x="4524375" y="19240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629"/>
                </a:solidFill>
                <a:latin typeface="DM Sans"/>
                <a:ea typeface="DM Sans"/>
                <a:cs typeface="DM Sans"/>
              </a:defRPr>
            </a:pPr>
            <a:r>
              <a:rPr sz="2700" b="1">
                <a:solidFill>
                  <a:srgbClr val="171629"/>
                </a:solidFill>
                <a:latin typeface="DM Sans"/>
                <a:ea typeface="DM Sans"/>
                <a:cs typeface="DM Sans"/>
              </a:rPr>
              <a:t>Terra shared Rust core</a:t>
            </a:r>
          </a:p>
        </p:txBody>
      </p:sp>
      <p:sp>
        <p:nvSpPr>
          <p:cNvPr id="6" name="">
            <a:extLst xmlns:a="http://schemas.openxmlformats.org/drawingml/2006/main">
              <a:ext uri="{FF2B5EF4-FFF2-40B4-BE49-F238E27FC236}">
                <a16:creationId xmlns:a16="http://schemas.microsoft.com/office/drawing/2014/main" id="{8C01B7DC-01B3-42F4-A1D3-67864E3B2D37}"/>
              </a:ext>
            </a:extLst>
          </p:cNvPr>
          <p:cNvSpPr>
            <a:spLocks xmlns:a="http://schemas.openxmlformats.org/drawingml/2006/main" noGrp="1"/>
          </p:cNvSpPr>
          <p:nvPr/>
        </p:nvSpPr>
        <p:spPr>
          <a:xfrm xmlns:a="http://schemas.openxmlformats.org/drawingml/2006/main">
            <a:off x="4524375" y="2571750"/>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Depth mapping and navigation</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Authority arbitration and safety</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Velocity control and motor output</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Versioned experiment logs</a:t>
            </a:r>
          </a:p>
        </p:txBody>
      </p:sp>
      <p:sp>
        <p:nvSpPr>
          <p:cNvPr id="7" name="">
            <a:extLst xmlns:a="http://schemas.openxmlformats.org/drawingml/2006/main">
              <a:ext uri="{FF2B5EF4-FFF2-40B4-BE49-F238E27FC236}">
                <a16:creationId xmlns:a16="http://schemas.microsoft.com/office/drawing/2014/main" id="{F104D17C-AC47-45BF-9651-22E8BD1B9DB8}"/>
              </a:ext>
            </a:extLst>
          </p:cNvPr>
          <p:cNvSpPr>
            <a:spLocks xmlns:a="http://schemas.openxmlformats.org/drawingml/2006/main" noGrp="1"/>
          </p:cNvSpPr>
          <p:nvPr/>
        </p:nvSpPr>
        <p:spPr>
          <a:xfrm xmlns:a="http://schemas.openxmlformats.org/drawingml/2006/main">
            <a:off x="685800" y="4762500"/>
            <a:ext cx="10820400" cy="19050"/>
          </a:xfrm>
          <a:prstGeom xmlns:a="http://schemas.openxmlformats.org/drawingml/2006/main" prst="rect">
            <a:avLst/>
          </a:prstGeom>
          <a:solidFill xmlns:a="http://schemas.openxmlformats.org/drawingml/2006/main">
            <a:srgbClr val="17162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2411AE-7CB2-4E65-9A66-33A030F530B6}"/>
              </a:ext>
            </a:extLst>
          </p:cNvPr>
          <p:cNvSpPr>
            <a:spLocks xmlns:a="http://schemas.openxmlformats.org/drawingml/2006/main" noGrp="1"/>
          </p:cNvSpPr>
          <p:nvPr/>
        </p:nvSpPr>
        <p:spPr>
          <a:xfrm xmlns:a="http://schemas.openxmlformats.org/drawingml/2006/main">
            <a:off x="685800" y="5095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629"/>
                </a:solidFill>
                <a:latin typeface="DM Sans"/>
                <a:ea typeface="DM Sans"/>
                <a:cs typeface="DM Sans"/>
              </a:defRPr>
            </a:pPr>
            <a:r>
              <a:rPr sz="2250" b="1">
                <a:solidFill>
                  <a:srgbClr val="171629"/>
                </a:solidFill>
                <a:latin typeface="DM Sans"/>
                <a:ea typeface="DM Sans"/>
                <a:cs typeface="DM Sans"/>
              </a:rPr>
              <a:t>Bevy / Avian simulator</a:t>
            </a:r>
          </a:p>
        </p:txBody>
      </p:sp>
      <p:sp>
        <p:nvSpPr>
          <p:cNvPr id="9" name="">
            <a:extLst xmlns:a="http://schemas.openxmlformats.org/drawingml/2006/main">
              <a:ext uri="{FF2B5EF4-FFF2-40B4-BE49-F238E27FC236}">
                <a16:creationId xmlns:a16="http://schemas.microsoft.com/office/drawing/2014/main" id="{0D5B8F27-8460-4FB7-8107-B3976948933C}"/>
              </a:ext>
            </a:extLst>
          </p:cNvPr>
          <p:cNvSpPr>
            <a:spLocks xmlns:a="http://schemas.openxmlformats.org/drawingml/2006/main" noGrp="1"/>
          </p:cNvSpPr>
          <p:nvPr/>
        </p:nvSpPr>
        <p:spPr>
          <a:xfrm xmlns:a="http://schemas.openxmlformats.org/drawingml/2006/main">
            <a:off x="6286500" y="5095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629"/>
                </a:solidFill>
                <a:latin typeface="DM Sans"/>
                <a:ea typeface="DM Sans"/>
                <a:cs typeface="DM Sans"/>
              </a:defRPr>
            </a:pPr>
            <a:r>
              <a:rPr sz="2250" b="1">
                <a:solidFill>
                  <a:srgbClr val="171629"/>
                </a:solidFill>
                <a:latin typeface="DM Sans"/>
                <a:ea typeface="DM Sans"/>
                <a:cs typeface="DM Sans"/>
              </a:rPr>
              <a:t>TerraPhone on iOS via UniFFI</a:t>
            </a:r>
          </a:p>
        </p:txBody>
      </p:sp>
      <p:sp>
        <p:nvSpPr>
          <p:cNvPr id="10" name="">
            <a:extLst xmlns:a="http://schemas.openxmlformats.org/drawingml/2006/main">
              <a:ext uri="{FF2B5EF4-FFF2-40B4-BE49-F238E27FC236}">
                <a16:creationId xmlns:a16="http://schemas.microsoft.com/office/drawing/2014/main" id="{3ECFACC4-0DF1-4C71-A3E9-670A927170C5}"/>
              </a:ext>
            </a:extLst>
          </p:cNvPr>
          <p:cNvSpPr>
            <a:spLocks xmlns:a="http://schemas.openxmlformats.org/drawingml/2006/main" noGrp="1"/>
          </p:cNvSpPr>
          <p:nvPr/>
        </p:nvSpPr>
        <p:spPr>
          <a:xfrm xmlns:a="http://schemas.openxmlformats.org/drawingml/2006/main">
            <a:off x="685800" y="57626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629"/>
                </a:solidFill>
                <a:latin typeface="DM Sans"/>
                <a:ea typeface="DM Sans"/>
                <a:cs typeface="DM Sans"/>
              </a:defRPr>
            </a:pPr>
            <a:r>
              <a:rPr sz="1725" b="0">
                <a:solidFill>
                  <a:srgbClr val="171629"/>
                </a:solidFill>
                <a:latin typeface="DM Sans"/>
                <a:ea typeface="DM Sans"/>
                <a:cs typeface="DM Sans"/>
              </a:rPr>
              <a:t>Zenoh connects the operator layer to rover commands and status</a:t>
            </a:r>
          </a:p>
        </p:txBody>
      </p:sp>
    </p:spTree>
    <p:extLst>
      <p:ext uri="{BB962C8B-B14F-4D97-AF65-F5344CB8AC3E}">
        <p14:creationId xmlns:p14="http://schemas.microsoft.com/office/powerpoint/2010/main" val="623041884"/>
      </p:ext>
    </p:extLst>
  </p:cSld>
</p:sld>
</file>

<file path=ppt/slides/slide4.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139D64-272B-4D52-BE0E-DD04D6335DEB}"/>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629"/>
                </a:solidFill>
                <a:latin typeface="DM Sans"/>
                <a:ea typeface="DM Sans"/>
                <a:cs typeface="DM Sans"/>
              </a:defRPr>
            </a:pPr>
            <a:r>
              <a:rPr sz="3600" b="1">
                <a:solidFill>
                  <a:srgbClr val="171629"/>
                </a:solidFill>
                <a:latin typeface="DM Sans"/>
                <a:ea typeface="DM Sans"/>
                <a:cs typeface="DM Sans"/>
              </a:rPr>
              <a:t>A repeatable rover simulation</a:t>
            </a:r>
          </a:p>
        </p:txBody>
      </p:sp>
      <p:sp>
        <p:nvSpPr>
          <p:cNvPr id="2" name="">
            <a:extLst xmlns:a="http://schemas.openxmlformats.org/drawingml/2006/main">
              <a:ext uri="{FF2B5EF4-FFF2-40B4-BE49-F238E27FC236}">
                <a16:creationId xmlns:a16="http://schemas.microsoft.com/office/drawing/2014/main" id="{F6463CA5-5984-4E16-8101-B3FF30B9346D}"/>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f0034adbd2049d3"/>
          <a:stretch xmlns:a="http://schemas.openxmlformats.org/drawingml/2006/main"/>
        </p:blipFill>
        <p:spPr>
          <a:xfrm xmlns:a="http://schemas.openxmlformats.org/drawingml/2006/main">
            <a:off x="686858" y="2000250"/>
            <a:ext cx="6570133" cy="3695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DBEFDE-44C7-445C-8473-62FD6300E887}"/>
              </a:ext>
            </a:extLst>
          </p:cNvPr>
          <p:cNvSpPr>
            <a:spLocks xmlns:a="http://schemas.openxmlformats.org/drawingml/2006/main" noGrp="1"/>
          </p:cNvSpPr>
          <p:nvPr/>
        </p:nvSpPr>
        <p:spPr>
          <a:xfrm xmlns:a="http://schemas.openxmlformats.org/drawingml/2006/main">
            <a:off x="7715250" y="201930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1629"/>
                </a:solidFill>
                <a:latin typeface="DM Sans"/>
                <a:ea typeface="DM Sans"/>
                <a:cs typeface="DM Sans"/>
              </a:defRPr>
            </a:pPr>
            <a:r>
              <a:rPr sz="2550" b="1">
                <a:solidFill>
                  <a:srgbClr val="171629"/>
                </a:solidFill>
                <a:latin typeface="DM Sans"/>
                <a:ea typeface="DM Sans"/>
                <a:cs typeface="DM Sans"/>
              </a:rPr>
              <a:t>Bevy + Avian</a:t>
            </a:r>
          </a:p>
        </p:txBody>
      </p:sp>
      <p:sp>
        <p:nvSpPr>
          <p:cNvPr id="5" name="">
            <a:extLst xmlns:a="http://schemas.openxmlformats.org/drawingml/2006/main">
              <a:ext uri="{FF2B5EF4-FFF2-40B4-BE49-F238E27FC236}">
                <a16:creationId xmlns:a16="http://schemas.microsoft.com/office/drawing/2014/main" id="{0A1254CC-80D7-4FC6-B2A0-4048BD61CBF3}"/>
              </a:ext>
            </a:extLst>
          </p:cNvPr>
          <p:cNvSpPr>
            <a:spLocks xmlns:a="http://schemas.openxmlformats.org/drawingml/2006/main" noGrp="1"/>
          </p:cNvSpPr>
          <p:nvPr/>
        </p:nvSpPr>
        <p:spPr>
          <a:xfrm xmlns:a="http://schemas.openxmlformats.org/drawingml/2006/main">
            <a:off x="7715250" y="2667000"/>
            <a:ext cx="3619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Fleet spawning and physics</a:t>
            </a:r>
          </a:p>
          <a:p xmlns:a="http://schemas.openxmlformats.org/drawingml/2006/main">
            <a:r>
              <a:t/>
            </a:r>
          </a:p>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Depth-derived occupancy</a:t>
            </a:r>
          </a:p>
          <a:p xmlns:a="http://schemas.openxmlformats.org/drawingml/2006/main">
            <a:r>
              <a:t/>
            </a:r>
          </a:p>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Seeded practice environment</a:t>
            </a:r>
          </a:p>
          <a:p xmlns:a="http://schemas.openxmlformats.org/drawingml/2006/main">
            <a:r>
              <a:t/>
            </a:r>
          </a:p>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Optional real elevation tiles</a:t>
            </a:r>
          </a:p>
        </p:txBody>
      </p:sp>
    </p:spTree>
    <p:extLst>
      <p:ext uri="{BB962C8B-B14F-4D97-AF65-F5344CB8AC3E}">
        <p14:creationId xmlns:p14="http://schemas.microsoft.com/office/powerpoint/2010/main" val="2006101398"/>
      </p:ext>
    </p:extLst>
  </p:cSld>
</p:sld>
</file>

<file path=ppt/slides/slide5.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63C149-7B0F-4A4B-9CDE-4BA5C24EC3E3}"/>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629"/>
                </a:solidFill>
                <a:latin typeface="DM Sans"/>
                <a:ea typeface="DM Sans"/>
                <a:cs typeface="DM Sans"/>
              </a:defRPr>
            </a:pPr>
            <a:r>
              <a:rPr sz="3600" b="1">
                <a:solidFill>
                  <a:srgbClr val="171629"/>
                </a:solidFill>
                <a:latin typeface="DM Sans"/>
                <a:ea typeface="DM Sans"/>
                <a:cs typeface="DM Sans"/>
              </a:rPr>
              <a:t>Four implemented control modes</a:t>
            </a:r>
          </a:p>
        </p:txBody>
      </p:sp>
      <p:sp>
        <p:nvSpPr>
          <p:cNvPr id="2" name="">
            <a:extLst xmlns:a="http://schemas.openxmlformats.org/drawingml/2006/main">
              <a:ext uri="{FF2B5EF4-FFF2-40B4-BE49-F238E27FC236}">
                <a16:creationId xmlns:a16="http://schemas.microsoft.com/office/drawing/2014/main" id="{ED07A1D4-9B99-441A-A5F5-EA998A9D62A0}"/>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05</a:t>
            </a:r>
          </a:p>
        </p:txBody>
      </p:sp>
      <p:sp>
        <p:nvSpPr>
          <p:cNvPr id="3" name="">
            <a:extLst xmlns:a="http://schemas.openxmlformats.org/drawingml/2006/main">
              <a:ext uri="{FF2B5EF4-FFF2-40B4-BE49-F238E27FC236}">
                <a16:creationId xmlns:a16="http://schemas.microsoft.com/office/drawing/2014/main" id="{00FCFA13-2862-477F-B3BA-40C22178BF69}"/>
              </a:ext>
            </a:extLst>
          </p:cNvPr>
          <p:cNvSpPr>
            <a:spLocks xmlns:a="http://schemas.openxmlformats.org/drawingml/2006/main" noGrp="1"/>
          </p:cNvSpPr>
          <p:nvPr/>
        </p:nvSpPr>
        <p:spPr>
          <a:xfrm xmlns:a="http://schemas.openxmlformats.org/drawingml/2006/main">
            <a:off x="685800" y="180975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499BD1-34B9-4590-A313-4AE176EB4AAA}"/>
              </a:ext>
            </a:extLst>
          </p:cNvPr>
          <p:cNvSpPr>
            <a:spLocks xmlns:a="http://schemas.openxmlformats.org/drawingml/2006/main" noGrp="1"/>
          </p:cNvSpPr>
          <p:nvPr/>
        </p:nvSpPr>
        <p:spPr>
          <a:xfrm xmlns:a="http://schemas.openxmlformats.org/drawingml/2006/main">
            <a:off x="685800" y="20193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01  Teleoperation</a:t>
            </a:r>
          </a:p>
        </p:txBody>
      </p:sp>
      <p:sp>
        <p:nvSpPr>
          <p:cNvPr id="5" name="">
            <a:extLst xmlns:a="http://schemas.openxmlformats.org/drawingml/2006/main">
              <a:ext uri="{FF2B5EF4-FFF2-40B4-BE49-F238E27FC236}">
                <a16:creationId xmlns:a16="http://schemas.microsoft.com/office/drawing/2014/main" id="{ABEFA95D-7369-4E4A-94E8-0516ED885441}"/>
              </a:ext>
            </a:extLst>
          </p:cNvPr>
          <p:cNvSpPr>
            <a:spLocks xmlns:a="http://schemas.openxmlformats.org/drawingml/2006/main" noGrp="1"/>
          </p:cNvSpPr>
          <p:nvPr/>
        </p:nvSpPr>
        <p:spPr>
          <a:xfrm xmlns:a="http://schemas.openxmlformats.org/drawingml/2006/main">
            <a:off x="4000500" y="201930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operator drives with held input. Commands expire after 500 ms.</a:t>
            </a:r>
          </a:p>
        </p:txBody>
      </p:sp>
      <p:sp>
        <p:nvSpPr>
          <p:cNvPr id="6" name="">
            <a:extLst xmlns:a="http://schemas.openxmlformats.org/drawingml/2006/main">
              <a:ext uri="{FF2B5EF4-FFF2-40B4-BE49-F238E27FC236}">
                <a16:creationId xmlns:a16="http://schemas.microsoft.com/office/drawing/2014/main" id="{0D27AD96-5E03-4E93-9F89-44C0DBD8E466}"/>
              </a:ext>
            </a:extLst>
          </p:cNvPr>
          <p:cNvSpPr>
            <a:spLocks xmlns:a="http://schemas.openxmlformats.org/drawingml/2006/main" noGrp="1"/>
          </p:cNvSpPr>
          <p:nvPr/>
        </p:nvSpPr>
        <p:spPr>
          <a:xfrm xmlns:a="http://schemas.openxmlformats.org/drawingml/2006/main">
            <a:off x="685800" y="290512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AD8BB77-086B-4FAF-BF61-4E89E23973D7}"/>
              </a:ext>
            </a:extLst>
          </p:cNvPr>
          <p:cNvSpPr>
            <a:spLocks xmlns:a="http://schemas.openxmlformats.org/drawingml/2006/main" noGrp="1"/>
          </p:cNvSpPr>
          <p:nvPr/>
        </p:nvSpPr>
        <p:spPr>
          <a:xfrm xmlns:a="http://schemas.openxmlformats.org/drawingml/2006/main">
            <a:off x="685800" y="31146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02  Assisted teleop</a:t>
            </a:r>
          </a:p>
        </p:txBody>
      </p:sp>
      <p:sp>
        <p:nvSpPr>
          <p:cNvPr id="8" name="">
            <a:extLst xmlns:a="http://schemas.openxmlformats.org/drawingml/2006/main">
              <a:ext uri="{FF2B5EF4-FFF2-40B4-BE49-F238E27FC236}">
                <a16:creationId xmlns:a16="http://schemas.microsoft.com/office/drawing/2014/main" id="{8796CFC4-AE4B-4A43-9461-7A5372C38AB1}"/>
              </a:ext>
            </a:extLst>
          </p:cNvPr>
          <p:cNvSpPr>
            <a:spLocks xmlns:a="http://schemas.openxmlformats.org/drawingml/2006/main" noGrp="1"/>
          </p:cNvSpPr>
          <p:nvPr/>
        </p:nvSpPr>
        <p:spPr>
          <a:xfrm xmlns:a="http://schemas.openxmlformats.org/drawingml/2006/main">
            <a:off x="4000500" y="311467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shared obstacle and braking checker filters operator intent.</a:t>
            </a:r>
          </a:p>
        </p:txBody>
      </p:sp>
      <p:sp>
        <p:nvSpPr>
          <p:cNvPr id="9" name="">
            <a:extLst xmlns:a="http://schemas.openxmlformats.org/drawingml/2006/main">
              <a:ext uri="{FF2B5EF4-FFF2-40B4-BE49-F238E27FC236}">
                <a16:creationId xmlns:a16="http://schemas.microsoft.com/office/drawing/2014/main" id="{6299F7EC-552C-46FA-B9A3-D698EB883A84}"/>
              </a:ext>
            </a:extLst>
          </p:cNvPr>
          <p:cNvSpPr>
            <a:spLocks xmlns:a="http://schemas.openxmlformats.org/drawingml/2006/main" noGrp="1"/>
          </p:cNvSpPr>
          <p:nvPr/>
        </p:nvSpPr>
        <p:spPr>
          <a:xfrm xmlns:a="http://schemas.openxmlformats.org/drawingml/2006/main">
            <a:off x="685800" y="40005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CCD1531-571E-4071-9BA7-0797043A3FF5}"/>
              </a:ext>
            </a:extLst>
          </p:cNvPr>
          <p:cNvSpPr>
            <a:spLocks xmlns:a="http://schemas.openxmlformats.org/drawingml/2006/main" noGrp="1"/>
          </p:cNvSpPr>
          <p:nvPr/>
        </p:nvSpPr>
        <p:spPr>
          <a:xfrm xmlns:a="http://schemas.openxmlformats.org/drawingml/2006/main">
            <a:off x="685800" y="4210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03  Waypoint</a:t>
            </a:r>
          </a:p>
        </p:txBody>
      </p:sp>
      <p:sp>
        <p:nvSpPr>
          <p:cNvPr id="11" name="">
            <a:extLst xmlns:a="http://schemas.openxmlformats.org/drawingml/2006/main">
              <a:ext uri="{FF2B5EF4-FFF2-40B4-BE49-F238E27FC236}">
                <a16:creationId xmlns:a16="http://schemas.microsoft.com/office/drawing/2014/main" id="{8AEAE95B-5C6D-4811-99E3-DD49670A8F65}"/>
              </a:ext>
            </a:extLst>
          </p:cNvPr>
          <p:cNvSpPr>
            <a:spLocks xmlns:a="http://schemas.openxmlformats.org/drawingml/2006/main" noGrp="1"/>
          </p:cNvSpPr>
          <p:nvPr/>
        </p:nvSpPr>
        <p:spPr>
          <a:xfrm xmlns:a="http://schemas.openxmlformats.org/drawingml/2006/main">
            <a:off x="4000500" y="42100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Operator-selected goals use the shared follower and local planner.</a:t>
            </a:r>
          </a:p>
        </p:txBody>
      </p:sp>
      <p:sp>
        <p:nvSpPr>
          <p:cNvPr id="12" name="">
            <a:extLst xmlns:a="http://schemas.openxmlformats.org/drawingml/2006/main">
              <a:ext uri="{FF2B5EF4-FFF2-40B4-BE49-F238E27FC236}">
                <a16:creationId xmlns:a16="http://schemas.microsoft.com/office/drawing/2014/main" id="{6B25E9DF-1A29-4FB2-8D2F-06B4DE43A36C}"/>
              </a:ext>
            </a:extLst>
          </p:cNvPr>
          <p:cNvSpPr>
            <a:spLocks xmlns:a="http://schemas.openxmlformats.org/drawingml/2006/main" noGrp="1"/>
          </p:cNvSpPr>
          <p:nvPr/>
        </p:nvSpPr>
        <p:spPr>
          <a:xfrm xmlns:a="http://schemas.openxmlformats.org/drawingml/2006/main">
            <a:off x="685800" y="509587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DCCC3C9-B24D-4207-B5E4-D2F47B9A0815}"/>
              </a:ext>
            </a:extLst>
          </p:cNvPr>
          <p:cNvSpPr>
            <a:spLocks xmlns:a="http://schemas.openxmlformats.org/drawingml/2006/main" noGrp="1"/>
          </p:cNvSpPr>
          <p:nvPr/>
        </p:nvSpPr>
        <p:spPr>
          <a:xfrm xmlns:a="http://schemas.openxmlformats.org/drawingml/2006/main">
            <a:off x="685800" y="53054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04  Supervised</a:t>
            </a:r>
          </a:p>
        </p:txBody>
      </p:sp>
      <p:sp>
        <p:nvSpPr>
          <p:cNvPr id="14" name="">
            <a:extLst xmlns:a="http://schemas.openxmlformats.org/drawingml/2006/main">
              <a:ext uri="{FF2B5EF4-FFF2-40B4-BE49-F238E27FC236}">
                <a16:creationId xmlns:a16="http://schemas.microsoft.com/office/drawing/2014/main" id="{565CD0F8-632D-4CB9-ABD1-FB00F6E8C588}"/>
              </a:ext>
            </a:extLst>
          </p:cNvPr>
          <p:cNvSpPr>
            <a:spLocks xmlns:a="http://schemas.openxmlformats.org/drawingml/2006/main" noGrp="1"/>
          </p:cNvSpPr>
          <p:nvPr/>
        </p:nvSpPr>
        <p:spPr>
          <a:xfrm xmlns:a="http://schemas.openxmlformats.org/drawingml/2006/main">
            <a:off x="4000500" y="530542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rover proposes a reachable frontier. Motion requires approval.</a:t>
            </a:r>
          </a:p>
        </p:txBody>
      </p:sp>
    </p:spTree>
    <p:extLst>
      <p:ext uri="{BB962C8B-B14F-4D97-AF65-F5344CB8AC3E}">
        <p14:creationId xmlns:p14="http://schemas.microsoft.com/office/powerpoint/2010/main" val="1537135377"/>
      </p:ext>
    </p:extLst>
  </p:cSld>
</p:sld>
</file>

<file path=ppt/slides/slide6.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900E7F-3591-4F1E-A88C-A005594F36DA}"/>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629"/>
                </a:solidFill>
                <a:latin typeface="DM Sans"/>
                <a:ea typeface="DM Sans"/>
                <a:cs typeface="DM Sans"/>
              </a:defRPr>
            </a:pPr>
            <a:r>
              <a:rPr sz="3600" b="1">
                <a:solidFill>
                  <a:srgbClr val="171629"/>
                </a:solidFill>
                <a:latin typeface="DM Sans"/>
                <a:ea typeface="DM Sans"/>
                <a:cs typeface="DM Sans"/>
              </a:rPr>
              <a:t>Phone integration and shared safety</a:t>
            </a:r>
          </a:p>
        </p:txBody>
      </p:sp>
      <p:sp>
        <p:nvSpPr>
          <p:cNvPr id="2" name="">
            <a:extLst xmlns:a="http://schemas.openxmlformats.org/drawingml/2006/main">
              <a:ext uri="{FF2B5EF4-FFF2-40B4-BE49-F238E27FC236}">
                <a16:creationId xmlns:a16="http://schemas.microsoft.com/office/drawing/2014/main" id="{99C5E0A9-B3A0-4A91-99DF-BC852A80D5EC}"/>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06</a:t>
            </a:r>
          </a:p>
        </p:txBody>
      </p:sp>
      <p:sp>
        <p:nvSpPr>
          <p:cNvPr id="3" name="">
            <a:extLst xmlns:a="http://schemas.openxmlformats.org/drawingml/2006/main">
              <a:ext uri="{FF2B5EF4-FFF2-40B4-BE49-F238E27FC236}">
                <a16:creationId xmlns:a16="http://schemas.microsoft.com/office/drawing/2014/main" id="{77192428-372B-448C-B7C3-E127F6BD0234}"/>
              </a:ext>
            </a:extLst>
          </p:cNvPr>
          <p:cNvSpPr>
            <a:spLocks xmlns:a="http://schemas.openxmlformats.org/drawingml/2006/main" noGrp="1"/>
          </p:cNvSpPr>
          <p:nvPr/>
        </p:nvSpPr>
        <p:spPr>
          <a:xfrm xmlns:a="http://schemas.openxmlformats.org/drawingml/2006/main">
            <a:off x="685800" y="19050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D24737-44F8-4561-AF72-1096A7077294}"/>
              </a:ext>
            </a:extLst>
          </p:cNvPr>
          <p:cNvSpPr>
            <a:spLocks xmlns:a="http://schemas.openxmlformats.org/drawingml/2006/main" noGrp="1"/>
          </p:cNvSpPr>
          <p:nvPr/>
        </p:nvSpPr>
        <p:spPr>
          <a:xfrm xmlns:a="http://schemas.openxmlformats.org/drawingml/2006/main">
            <a:off x="685800" y="21145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TerraPhone</a:t>
            </a:r>
          </a:p>
        </p:txBody>
      </p:sp>
      <p:sp>
        <p:nvSpPr>
          <p:cNvPr id="5" name="">
            <a:extLst xmlns:a="http://schemas.openxmlformats.org/drawingml/2006/main">
              <a:ext uri="{FF2B5EF4-FFF2-40B4-BE49-F238E27FC236}">
                <a16:creationId xmlns:a16="http://schemas.microsoft.com/office/drawing/2014/main" id="{5E8CD8B6-B76F-4887-A8A3-0CC1EFB11945}"/>
              </a:ext>
            </a:extLst>
          </p:cNvPr>
          <p:cNvSpPr>
            <a:spLocks xmlns:a="http://schemas.openxmlformats.org/drawingml/2006/main" noGrp="1"/>
          </p:cNvSpPr>
          <p:nvPr/>
        </p:nvSpPr>
        <p:spPr>
          <a:xfrm xmlns:a="http://schemas.openxmlformats.org/drawingml/2006/main">
            <a:off x="4000500" y="21145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Swift sensor access and controls use the Rust core through UniFFI.</a:t>
            </a:r>
          </a:p>
        </p:txBody>
      </p:sp>
      <p:sp>
        <p:nvSpPr>
          <p:cNvPr id="6" name="">
            <a:extLst xmlns:a="http://schemas.openxmlformats.org/drawingml/2006/main">
              <a:ext uri="{FF2B5EF4-FFF2-40B4-BE49-F238E27FC236}">
                <a16:creationId xmlns:a16="http://schemas.microsoft.com/office/drawing/2014/main" id="{61AD3452-0BEC-4E7B-898E-30B948A3669D}"/>
              </a:ext>
            </a:extLst>
          </p:cNvPr>
          <p:cNvSpPr>
            <a:spLocks xmlns:a="http://schemas.openxmlformats.org/drawingml/2006/main" noGrp="1"/>
          </p:cNvSpPr>
          <p:nvPr/>
        </p:nvSpPr>
        <p:spPr>
          <a:xfrm xmlns:a="http://schemas.openxmlformats.org/drawingml/2006/main">
            <a:off x="685800" y="314325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9194E27-205D-49FD-8903-D0FAEB662299}"/>
              </a:ext>
            </a:extLst>
          </p:cNvPr>
          <p:cNvSpPr>
            <a:spLocks xmlns:a="http://schemas.openxmlformats.org/drawingml/2006/main" noGrp="1"/>
          </p:cNvSpPr>
          <p:nvPr/>
        </p:nvSpPr>
        <p:spPr>
          <a:xfrm xmlns:a="http://schemas.openxmlformats.org/drawingml/2006/main">
            <a:off x="685800" y="33528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Safety authority</a:t>
            </a:r>
          </a:p>
        </p:txBody>
      </p:sp>
      <p:sp>
        <p:nvSpPr>
          <p:cNvPr id="8" name="">
            <a:extLst xmlns:a="http://schemas.openxmlformats.org/drawingml/2006/main">
              <a:ext uri="{FF2B5EF4-FFF2-40B4-BE49-F238E27FC236}">
                <a16:creationId xmlns:a16="http://schemas.microsoft.com/office/drawing/2014/main" id="{C9ABD5C2-C732-411D-9DD5-F12327FA2473}"/>
              </a:ext>
            </a:extLst>
          </p:cNvPr>
          <p:cNvSpPr>
            <a:spLocks xmlns:a="http://schemas.openxmlformats.org/drawingml/2006/main" noGrp="1"/>
          </p:cNvSpPr>
          <p:nvPr/>
        </p:nvSpPr>
        <p:spPr>
          <a:xfrm xmlns:a="http://schemas.openxmlformats.org/drawingml/2006/main">
            <a:off x="4000500" y="335280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Latched emergency stop, explicit reset, stale-input expiry and health holds.</a:t>
            </a:r>
          </a:p>
        </p:txBody>
      </p:sp>
      <p:sp>
        <p:nvSpPr>
          <p:cNvPr id="9" name="">
            <a:extLst xmlns:a="http://schemas.openxmlformats.org/drawingml/2006/main">
              <a:ext uri="{FF2B5EF4-FFF2-40B4-BE49-F238E27FC236}">
                <a16:creationId xmlns:a16="http://schemas.microsoft.com/office/drawing/2014/main" id="{76F23DA9-0710-4962-A746-A5B0957C3349}"/>
              </a:ext>
            </a:extLst>
          </p:cNvPr>
          <p:cNvSpPr>
            <a:spLocks xmlns:a="http://schemas.openxmlformats.org/drawingml/2006/main" noGrp="1"/>
          </p:cNvSpPr>
          <p:nvPr/>
        </p:nvSpPr>
        <p:spPr>
          <a:xfrm xmlns:a="http://schemas.openxmlformats.org/drawingml/2006/main">
            <a:off x="685800" y="43815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8B236E5-92BB-462C-B211-93FACCB9792D}"/>
              </a:ext>
            </a:extLst>
          </p:cNvPr>
          <p:cNvSpPr>
            <a:spLocks xmlns:a="http://schemas.openxmlformats.org/drawingml/2006/main" noGrp="1"/>
          </p:cNvSpPr>
          <p:nvPr/>
        </p:nvSpPr>
        <p:spPr>
          <a:xfrm xmlns:a="http://schemas.openxmlformats.org/drawingml/2006/main">
            <a:off x="685800" y="4591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Recording and export</a:t>
            </a:r>
          </a:p>
        </p:txBody>
      </p:sp>
      <p:sp>
        <p:nvSpPr>
          <p:cNvPr id="11" name="">
            <a:extLst xmlns:a="http://schemas.openxmlformats.org/drawingml/2006/main">
              <a:ext uri="{FF2B5EF4-FFF2-40B4-BE49-F238E27FC236}">
                <a16:creationId xmlns:a16="http://schemas.microsoft.com/office/drawing/2014/main" id="{2778BC94-28BA-429E-A32F-ACD930EC4BB4}"/>
              </a:ext>
            </a:extLst>
          </p:cNvPr>
          <p:cNvSpPr>
            <a:spLocks xmlns:a="http://schemas.openxmlformats.org/drawingml/2006/main" noGrp="1"/>
          </p:cNvSpPr>
          <p:nvPr/>
        </p:nvSpPr>
        <p:spPr>
          <a:xfrm xmlns:a="http://schemas.openxmlformats.org/drawingml/2006/main">
            <a:off x="4000500" y="45910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phone records sandbox JSONL logs and supports share/export.</a:t>
            </a:r>
          </a:p>
        </p:txBody>
      </p:sp>
      <p:sp>
        <p:nvSpPr>
          <p:cNvPr id="12" name="">
            <a:extLst xmlns:a="http://schemas.openxmlformats.org/drawingml/2006/main">
              <a:ext uri="{FF2B5EF4-FFF2-40B4-BE49-F238E27FC236}">
                <a16:creationId xmlns:a16="http://schemas.microsoft.com/office/drawing/2014/main" id="{1D2A6ACA-AD7F-463E-96C6-D98951BEB094}"/>
              </a:ext>
            </a:extLst>
          </p:cNvPr>
          <p:cNvSpPr>
            <a:spLocks xmlns:a="http://schemas.openxmlformats.org/drawingml/2006/main" noGrp="1"/>
          </p:cNvSpPr>
          <p:nvPr/>
        </p:nvSpPr>
        <p:spPr>
          <a:xfrm xmlns:a="http://schemas.openxmlformats.org/drawingml/2006/main">
            <a:off x="685800" y="58388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629"/>
                </a:solidFill>
                <a:latin typeface="DM Sans"/>
                <a:ea typeface="DM Sans"/>
                <a:cs typeface="DM Sans"/>
              </a:defRPr>
            </a:pPr>
            <a:r>
              <a:rPr sz="1800" b="1">
                <a:solidFill>
                  <a:srgbClr val="171629"/>
                </a:solidFill>
                <a:latin typeface="DM Sans"/>
                <a:ea typeface="DM Sans"/>
                <a:cs typeface="DM Sans"/>
              </a:rPr>
              <a:t>Physical navigation and braking still require device and chassis validation</a:t>
            </a:r>
          </a:p>
        </p:txBody>
      </p:sp>
    </p:spTree>
    <p:extLst>
      <p:ext uri="{BB962C8B-B14F-4D97-AF65-F5344CB8AC3E}">
        <p14:creationId xmlns:p14="http://schemas.microsoft.com/office/powerpoint/2010/main" val="984573228"/>
      </p:ext>
    </p:extLst>
  </p:cSld>
</p:sld>
</file>

<file path=ppt/slides/slide7.xml><?xml version="1.0" encoding="utf-8"?>
<p:sld xmlns:p="http://schemas.openxmlformats.org/presentationml/2006/main">
  <p:cSld>
    <p:bg>
      <p:bgPr>
        <a:solidFill xmlns:a="http://schemas.openxmlformats.org/drawingml/2006/main">
          <a:srgbClr val="17162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E9F840-9C64-493D-892A-F85D91F21630}"/>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1F1EF"/>
                </a:solidFill>
                <a:latin typeface="DM Sans"/>
                <a:ea typeface="DM Sans"/>
                <a:cs typeface="DM Sans"/>
              </a:defRPr>
            </a:pPr>
            <a:r>
              <a:rPr sz="3600" b="1">
                <a:solidFill>
                  <a:srgbClr val="F1F1EF"/>
                </a:solidFill>
                <a:latin typeface="DM Sans"/>
                <a:ea typeface="DM Sans"/>
                <a:cs typeface="DM Sans"/>
              </a:rPr>
              <a:t>Documented two-rover integration</a:t>
            </a:r>
          </a:p>
        </p:txBody>
      </p:sp>
      <p:sp>
        <p:nvSpPr>
          <p:cNvPr id="2" name="">
            <a:extLst xmlns:a="http://schemas.openxmlformats.org/drawingml/2006/main">
              <a:ext uri="{FF2B5EF4-FFF2-40B4-BE49-F238E27FC236}">
                <a16:creationId xmlns:a16="http://schemas.microsoft.com/office/drawing/2014/main" id="{DF2B06BB-0C8B-4325-963B-06747C436E8E}"/>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1F1EF"/>
                </a:solidFill>
                <a:latin typeface="DM Sans"/>
                <a:ea typeface="DM Sans"/>
                <a:cs typeface="DM Sans"/>
              </a:defRPr>
            </a:pPr>
            <a:r>
              <a:rPr sz="1200" b="0">
                <a:solidFill>
                  <a:srgbClr val="F1F1EF"/>
                </a:solidFill>
                <a:latin typeface="DM Sans"/>
                <a:ea typeface="DM Sans"/>
                <a:cs typeface="DM Sans"/>
              </a:rPr>
              <a:t>07</a:t>
            </a:r>
          </a:p>
        </p:txBody>
      </p:sp>
      <p:sp>
        <p:nvSpPr>
          <p:cNvPr id="3" name="">
            <a:extLst xmlns:a="http://schemas.openxmlformats.org/drawingml/2006/main">
              <a:ext uri="{FF2B5EF4-FFF2-40B4-BE49-F238E27FC236}">
                <a16:creationId xmlns:a16="http://schemas.microsoft.com/office/drawing/2014/main" id="{AF0F6F5F-E1EA-4603-AA10-0FBA2C2F2087}"/>
              </a:ext>
            </a:extLst>
          </p:cNvPr>
          <p:cNvSpPr>
            <a:spLocks xmlns:a="http://schemas.openxmlformats.org/drawingml/2006/main" noGrp="1"/>
          </p:cNvSpPr>
          <p:nvPr/>
        </p:nvSpPr>
        <p:spPr>
          <a:xfrm xmlns:a="http://schemas.openxmlformats.org/drawingml/2006/main">
            <a:off x="685800" y="18573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1F1EF"/>
                </a:solidFill>
                <a:latin typeface="DM Sans"/>
                <a:ea typeface="DM Sans"/>
                <a:cs typeface="DM Sans"/>
              </a:defRPr>
            </a:pPr>
            <a:r>
              <a:rPr sz="5850" b="1">
                <a:solidFill>
                  <a:srgbClr val="F1F1EF"/>
                </a:solidFill>
                <a:latin typeface="DM Sans"/>
                <a:ea typeface="DM Sans"/>
                <a:cs typeface="DM Sans"/>
              </a:rPr>
              <a:t>2 rovers</a:t>
            </a:r>
          </a:p>
        </p:txBody>
      </p:sp>
      <p:sp>
        <p:nvSpPr>
          <p:cNvPr id="4" name="">
            <a:extLst xmlns:a="http://schemas.openxmlformats.org/drawingml/2006/main">
              <a:ext uri="{FF2B5EF4-FFF2-40B4-BE49-F238E27FC236}">
                <a16:creationId xmlns:a16="http://schemas.microsoft.com/office/drawing/2014/main" id="{7161E054-CD58-4185-914A-3EEB6B288B1D}"/>
              </a:ext>
            </a:extLst>
          </p:cNvPr>
          <p:cNvSpPr>
            <a:spLocks xmlns:a="http://schemas.openxmlformats.org/drawingml/2006/main" noGrp="1"/>
          </p:cNvSpPr>
          <p:nvPr/>
        </p:nvSpPr>
        <p:spPr>
          <a:xfrm xmlns:a="http://schemas.openxmlformats.org/drawingml/2006/main">
            <a:off x="6191250" y="185737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1F1EF"/>
                </a:solidFill>
                <a:latin typeface="DM Sans"/>
                <a:ea typeface="DM Sans"/>
                <a:cs typeface="DM Sans"/>
              </a:defRPr>
            </a:pPr>
            <a:r>
              <a:rPr sz="4500" b="1">
                <a:solidFill>
                  <a:srgbClr val="F1F1EF"/>
                </a:solidFill>
                <a:latin typeface="DM Sans"/>
                <a:ea typeface="DM Sans"/>
                <a:cs typeface="DM Sans"/>
              </a:rPr>
              <a:t>4 modes exercised</a:t>
            </a:r>
          </a:p>
        </p:txBody>
      </p:sp>
      <p:sp>
        <p:nvSpPr>
          <p:cNvPr id="5" name="">
            <a:extLst xmlns:a="http://schemas.openxmlformats.org/drawingml/2006/main">
              <a:ext uri="{FF2B5EF4-FFF2-40B4-BE49-F238E27FC236}">
                <a16:creationId xmlns:a16="http://schemas.microsoft.com/office/drawing/2014/main" id="{0752F0BF-1BEB-4E7C-ABCE-E0045A3090C0}"/>
              </a:ext>
            </a:extLst>
          </p:cNvPr>
          <p:cNvSpPr>
            <a:spLocks xmlns:a="http://schemas.openxmlformats.org/drawingml/2006/main" noGrp="1"/>
          </p:cNvSpPr>
          <p:nvPr/>
        </p:nvSpPr>
        <p:spPr>
          <a:xfrm xmlns:a="http://schemas.openxmlformats.org/drawingml/2006/main">
            <a:off x="685800" y="3190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1F1EF"/>
                </a:solidFill>
                <a:latin typeface="DM Sans"/>
                <a:ea typeface="DM Sans"/>
                <a:cs typeface="DM Sans"/>
              </a:defRPr>
            </a:pPr>
            <a:r>
              <a:rPr sz="2250" b="0">
                <a:solidFill>
                  <a:srgbClr val="F1F1EF"/>
                </a:solidFill>
                <a:latin typeface="DM Sans"/>
                <a:ea typeface="DM Sans"/>
                <a:cs typeface="DM Sans"/>
              </a:rPr>
              <a:t>The saved local flow exercised held input and release, waypoint</a:t>
            </a:r>
          </a:p>
          <a:p xmlns:a="http://schemas.openxmlformats.org/drawingml/2006/main">
            <a:pPr>
              <a:defRPr sz="2250" b="0">
                <a:solidFill>
                  <a:srgbClr val="F1F1EF"/>
                </a:solidFill>
                <a:latin typeface="DM Sans"/>
                <a:ea typeface="DM Sans"/>
                <a:cs typeface="DM Sans"/>
              </a:defRPr>
            </a:pPr>
            <a:r>
              <a:rPr sz="2250" b="0">
                <a:solidFill>
                  <a:srgbClr val="F1F1EF"/>
                </a:solidFill>
                <a:latin typeface="DM Sans"/>
                <a:ea typeface="DM Sans"/>
                <a:cs typeface="DM Sans"/>
              </a:rPr>
              <a:t>arrival, supervised approval, and acknowledged fleet stop/takeover.</a:t>
            </a:r>
          </a:p>
        </p:txBody>
      </p:sp>
      <p:sp>
        <p:nvSpPr>
          <p:cNvPr id="6" name="">
            <a:extLst xmlns:a="http://schemas.openxmlformats.org/drawingml/2006/main">
              <a:ext uri="{FF2B5EF4-FFF2-40B4-BE49-F238E27FC236}">
                <a16:creationId xmlns:a16="http://schemas.microsoft.com/office/drawing/2014/main" id="{1C373985-8110-4749-AEE5-FCE268657276}"/>
              </a:ext>
            </a:extLst>
          </p:cNvPr>
          <p:cNvSpPr>
            <a:spLocks xmlns:a="http://schemas.openxmlformats.org/drawingml/2006/main" noGrp="1"/>
          </p:cNvSpPr>
          <p:nvPr/>
        </p:nvSpPr>
        <p:spPr>
          <a:xfrm xmlns:a="http://schemas.openxmlformats.org/drawingml/2006/main">
            <a:off x="685800" y="4686300"/>
            <a:ext cx="10820400" cy="19050"/>
          </a:xfrm>
          <a:prstGeom xmlns:a="http://schemas.openxmlformats.org/drawingml/2006/main" prst="rect">
            <a:avLst/>
          </a:prstGeom>
          <a:solidFill xmlns:a="http://schemas.openxmlformats.org/drawingml/2006/main">
            <a:srgbClr val="55546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0DADB5-46AF-4D9F-98C0-A1478AD4FAC3}"/>
              </a:ext>
            </a:extLst>
          </p:cNvPr>
          <p:cNvSpPr>
            <a:spLocks xmlns:a="http://schemas.openxmlformats.org/drawingml/2006/main" noGrp="1"/>
          </p:cNvSpPr>
          <p:nvPr/>
        </p:nvSpPr>
        <p:spPr>
          <a:xfrm xmlns:a="http://schemas.openxmlformats.org/drawingml/2006/main">
            <a:off x="685800" y="49911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1F1EF"/>
                </a:solidFill>
                <a:latin typeface="DM Sans"/>
                <a:ea typeface="DM Sans"/>
                <a:cs typeface="DM Sans"/>
              </a:defRPr>
            </a:pPr>
            <a:r>
              <a:rPr sz="3525" b="1">
                <a:solidFill>
                  <a:srgbClr val="F1F1EF"/>
                </a:solidFill>
                <a:latin typeface="DM Sans"/>
                <a:ea typeface="DM Sans"/>
                <a:cs typeface="DM Sans"/>
              </a:rPr>
              <a:t>0.11–0.54 s</a:t>
            </a:r>
          </a:p>
        </p:txBody>
      </p:sp>
      <p:sp>
        <p:nvSpPr>
          <p:cNvPr id="8" name="">
            <a:extLst xmlns:a="http://schemas.openxmlformats.org/drawingml/2006/main">
              <a:ext uri="{FF2B5EF4-FFF2-40B4-BE49-F238E27FC236}">
                <a16:creationId xmlns:a16="http://schemas.microsoft.com/office/drawing/2014/main" id="{56ED53C3-D1D2-42BD-ADFA-FF6D7553F04E}"/>
              </a:ext>
            </a:extLst>
          </p:cNvPr>
          <p:cNvSpPr>
            <a:spLocks xmlns:a="http://schemas.openxmlformats.org/drawingml/2006/main" noGrp="1"/>
          </p:cNvSpPr>
          <p:nvPr/>
        </p:nvSpPr>
        <p:spPr>
          <a:xfrm xmlns:a="http://schemas.openxmlformats.org/drawingml/2006/main">
            <a:off x="5619750" y="500062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1F1EF"/>
                </a:solidFill>
                <a:latin typeface="DM Sans"/>
                <a:ea typeface="DM Sans"/>
                <a:cs typeface="DM Sans"/>
              </a:defRPr>
            </a:pPr>
            <a:r>
              <a:rPr sz="1950" b="0">
                <a:solidFill>
                  <a:srgbClr val="F1F1EF"/>
                </a:solidFill>
                <a:latin typeface="DM Sans"/>
                <a:ea typeface="DM Sans"/>
                <a:cs typeface="DM Sans"/>
              </a:rPr>
              <a:t>Recorded Rust-client acknowledgement latency</a:t>
            </a:r>
          </a:p>
          <a:p xmlns:a="http://schemas.openxmlformats.org/drawingml/2006/main">
            <a:pPr>
              <a:defRPr sz="1950" b="0">
                <a:solidFill>
                  <a:srgbClr val="F1F1EF"/>
                </a:solidFill>
                <a:latin typeface="DM Sans"/>
                <a:ea typeface="DM Sans"/>
                <a:cs typeface="DM Sans"/>
              </a:defRPr>
            </a:pPr>
            <a:r>
              <a:rPr sz="1950" b="0">
                <a:solidFill>
                  <a:srgbClr val="F1F1EF"/>
                </a:solidFill>
                <a:latin typeface="DM Sans"/>
                <a:ea typeface="DM Sans"/>
                <a:cs typeface="DM Sans"/>
              </a:rPr>
              <a:t>Transport/runtime timing, not native UI latency</a:t>
            </a:r>
          </a:p>
        </p:txBody>
      </p:sp>
    </p:spTree>
    <p:extLst>
      <p:ext uri="{BB962C8B-B14F-4D97-AF65-F5344CB8AC3E}">
        <p14:creationId xmlns:p14="http://schemas.microsoft.com/office/powerpoint/2010/main" val="1532495732"/>
      </p:ext>
    </p:extLst>
  </p:cSld>
</p:sld>
</file>

<file path=ppt/slides/slide8.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243DFC-6B24-4622-8997-C59C12688B84}"/>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629"/>
                </a:solidFill>
                <a:latin typeface="DM Sans"/>
                <a:ea typeface="DM Sans"/>
                <a:cs typeface="DM Sans"/>
              </a:defRPr>
            </a:pPr>
            <a:r>
              <a:rPr sz="3600" b="1">
                <a:solidFill>
                  <a:srgbClr val="171629"/>
                </a:solidFill>
                <a:latin typeface="DM Sans"/>
                <a:ea typeface="DM Sans"/>
                <a:cs typeface="DM Sans"/>
              </a:rPr>
              <a:t>The system now records study evidence</a:t>
            </a:r>
          </a:p>
        </p:txBody>
      </p:sp>
      <p:sp>
        <p:nvSpPr>
          <p:cNvPr id="2" name="">
            <a:extLst xmlns:a="http://schemas.openxmlformats.org/drawingml/2006/main">
              <a:ext uri="{FF2B5EF4-FFF2-40B4-BE49-F238E27FC236}">
                <a16:creationId xmlns:a16="http://schemas.microsoft.com/office/drawing/2014/main" id="{E737179A-DCAD-4068-ABA8-AD616BB58457}"/>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08</a:t>
            </a:r>
          </a:p>
        </p:txBody>
      </p:sp>
      <p:sp>
        <p:nvSpPr>
          <p:cNvPr id="3" name="">
            <a:extLst xmlns:a="http://schemas.openxmlformats.org/drawingml/2006/main">
              <a:ext uri="{FF2B5EF4-FFF2-40B4-BE49-F238E27FC236}">
                <a16:creationId xmlns:a16="http://schemas.microsoft.com/office/drawing/2014/main" id="{F3251B1E-5D88-417C-9A13-C3786A2F4CA9}"/>
              </a:ext>
            </a:extLst>
          </p:cNvPr>
          <p:cNvSpPr>
            <a:spLocks xmlns:a="http://schemas.openxmlformats.org/drawingml/2006/main" noGrp="1"/>
          </p:cNvSpPr>
          <p:nvPr/>
        </p:nvSpPr>
        <p:spPr>
          <a:xfrm xmlns:a="http://schemas.openxmlformats.org/drawingml/2006/main">
            <a:off x="685800" y="185737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B53694-5DA6-40E3-B6E4-FF3715B0EE37}"/>
              </a:ext>
            </a:extLst>
          </p:cNvPr>
          <p:cNvSpPr>
            <a:spLocks xmlns:a="http://schemas.openxmlformats.org/drawingml/2006/main" noGrp="1"/>
          </p:cNvSpPr>
          <p:nvPr/>
        </p:nvSpPr>
        <p:spPr>
          <a:xfrm xmlns:a="http://schemas.openxmlformats.org/drawingml/2006/main">
            <a:off x="685800" y="20669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Mission scenario</a:t>
            </a:r>
          </a:p>
        </p:txBody>
      </p:sp>
      <p:sp>
        <p:nvSpPr>
          <p:cNvPr id="5" name="">
            <a:extLst xmlns:a="http://schemas.openxmlformats.org/drawingml/2006/main">
              <a:ext uri="{FF2B5EF4-FFF2-40B4-BE49-F238E27FC236}">
                <a16:creationId xmlns:a16="http://schemas.microsoft.com/office/drawing/2014/main" id="{00E577BB-327E-4372-89B5-FD22F7BCA6EB}"/>
              </a:ext>
            </a:extLst>
          </p:cNvPr>
          <p:cNvSpPr>
            <a:spLocks xmlns:a="http://schemas.openxmlformats.org/drawingml/2006/main" noGrp="1"/>
          </p:cNvSpPr>
          <p:nvPr/>
        </p:nvSpPr>
        <p:spPr>
          <a:xfrm xmlns:a="http://schemas.openxmlformats.org/drawingml/2006/main">
            <a:off x="4000500" y="206692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Find and confirm 3 simulated survivors, then return within 600 seconds.</a:t>
            </a:r>
          </a:p>
        </p:txBody>
      </p:sp>
      <p:sp>
        <p:nvSpPr>
          <p:cNvPr id="6" name="">
            <a:extLst xmlns:a="http://schemas.openxmlformats.org/drawingml/2006/main">
              <a:ext uri="{FF2B5EF4-FFF2-40B4-BE49-F238E27FC236}">
                <a16:creationId xmlns:a16="http://schemas.microsoft.com/office/drawing/2014/main" id="{A96BF007-1D70-4A0E-9E29-1169DF744CCA}"/>
              </a:ext>
            </a:extLst>
          </p:cNvPr>
          <p:cNvSpPr>
            <a:spLocks xmlns:a="http://schemas.openxmlformats.org/drawingml/2006/main" noGrp="1"/>
          </p:cNvSpPr>
          <p:nvPr/>
        </p:nvSpPr>
        <p:spPr>
          <a:xfrm xmlns:a="http://schemas.openxmlformats.org/drawingml/2006/main">
            <a:off x="685800" y="30480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1332DDF-0AFB-419D-A099-103F114116DD}"/>
              </a:ext>
            </a:extLst>
          </p:cNvPr>
          <p:cNvSpPr>
            <a:spLocks xmlns:a="http://schemas.openxmlformats.org/drawingml/2006/main" noGrp="1"/>
          </p:cNvSpPr>
          <p:nvPr/>
        </p:nvSpPr>
        <p:spPr>
          <a:xfrm xmlns:a="http://schemas.openxmlformats.org/drawingml/2006/main">
            <a:off x="685800" y="32575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Experiment records</a:t>
            </a:r>
          </a:p>
        </p:txBody>
      </p:sp>
      <p:sp>
        <p:nvSpPr>
          <p:cNvPr id="8" name="">
            <a:extLst xmlns:a="http://schemas.openxmlformats.org/drawingml/2006/main">
              <a:ext uri="{FF2B5EF4-FFF2-40B4-BE49-F238E27FC236}">
                <a16:creationId xmlns:a16="http://schemas.microsoft.com/office/drawing/2014/main" id="{B86DD622-B3C4-4F37-BEAB-37D565A0659C}"/>
              </a:ext>
            </a:extLst>
          </p:cNvPr>
          <p:cNvSpPr>
            <a:spLocks xmlns:a="http://schemas.openxmlformats.org/drawingml/2006/main" noGrp="1"/>
          </p:cNvSpPr>
          <p:nvPr/>
        </p:nvSpPr>
        <p:spPr>
          <a:xfrm xmlns:a="http://schemas.openxmlformats.org/drawingml/2006/main">
            <a:off x="4000500" y="32575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Run identity, trial assignment, effective authority, events and outcomes.</a:t>
            </a:r>
          </a:p>
        </p:txBody>
      </p:sp>
      <p:sp>
        <p:nvSpPr>
          <p:cNvPr id="9" name="">
            <a:extLst xmlns:a="http://schemas.openxmlformats.org/drawingml/2006/main">
              <a:ext uri="{FF2B5EF4-FFF2-40B4-BE49-F238E27FC236}">
                <a16:creationId xmlns:a16="http://schemas.microsoft.com/office/drawing/2014/main" id="{EB51B251-D42D-40EB-B77D-309B1165E680}"/>
              </a:ext>
            </a:extLst>
          </p:cNvPr>
          <p:cNvSpPr>
            <a:spLocks xmlns:a="http://schemas.openxmlformats.org/drawingml/2006/main" noGrp="1"/>
          </p:cNvSpPr>
          <p:nvPr/>
        </p:nvSpPr>
        <p:spPr>
          <a:xfrm xmlns:a="http://schemas.openxmlformats.org/drawingml/2006/main">
            <a:off x="685800" y="423862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FF568DB-F50D-4ECF-A7DA-24CB73BB4B14}"/>
              </a:ext>
            </a:extLst>
          </p:cNvPr>
          <p:cNvSpPr>
            <a:spLocks xmlns:a="http://schemas.openxmlformats.org/drawingml/2006/main" noGrp="1"/>
          </p:cNvSpPr>
          <p:nvPr/>
        </p:nvSpPr>
        <p:spPr>
          <a:xfrm xmlns:a="http://schemas.openxmlformats.org/drawingml/2006/main">
            <a:off x="685800" y="44481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Performance measures</a:t>
            </a:r>
          </a:p>
        </p:txBody>
      </p:sp>
      <p:sp>
        <p:nvSpPr>
          <p:cNvPr id="11" name="">
            <a:extLst xmlns:a="http://schemas.openxmlformats.org/drawingml/2006/main">
              <a:ext uri="{FF2B5EF4-FFF2-40B4-BE49-F238E27FC236}">
                <a16:creationId xmlns:a16="http://schemas.microsoft.com/office/drawing/2014/main" id="{0871D3D2-5F2F-4125-B6A3-6EEF7066D849}"/>
              </a:ext>
            </a:extLst>
          </p:cNvPr>
          <p:cNvSpPr>
            <a:spLocks xmlns:a="http://schemas.openxmlformats.org/drawingml/2006/main" noGrp="1"/>
          </p:cNvSpPr>
          <p:nvPr/>
        </p:nvSpPr>
        <p:spPr>
          <a:xfrm xmlns:a="http://schemas.openxmlformats.org/drawingml/2006/main">
            <a:off x="4000500" y="444817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Mission progress, contacts, clearance episodes and operator interactions.</a:t>
            </a:r>
          </a:p>
        </p:txBody>
      </p:sp>
      <p:sp>
        <p:nvSpPr>
          <p:cNvPr id="12" name="">
            <a:extLst xmlns:a="http://schemas.openxmlformats.org/drawingml/2006/main">
              <a:ext uri="{FF2B5EF4-FFF2-40B4-BE49-F238E27FC236}">
                <a16:creationId xmlns:a16="http://schemas.microsoft.com/office/drawing/2014/main" id="{224F5CD0-7F1F-4B8E-AA9A-C441F6BF15F2}"/>
              </a:ext>
            </a:extLst>
          </p:cNvPr>
          <p:cNvSpPr>
            <a:spLocks xmlns:a="http://schemas.openxmlformats.org/drawingml/2006/main" noGrp="1"/>
          </p:cNvSpPr>
          <p:nvPr/>
        </p:nvSpPr>
        <p:spPr>
          <a:xfrm xmlns:a="http://schemas.openxmlformats.org/drawingml/2006/main">
            <a:off x="685800" y="57912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629"/>
                </a:solidFill>
                <a:latin typeface="DM Sans"/>
                <a:ea typeface="DM Sans"/>
                <a:cs typeface="DM Sans"/>
              </a:defRPr>
            </a:pPr>
            <a:r>
              <a:rPr sz="1800" b="1">
                <a:solidFill>
                  <a:srgbClr val="171629"/>
                </a:solidFill>
                <a:latin typeface="DM Sans"/>
                <a:ea typeface="DM Sans"/>
                <a:cs typeface="DM Sans"/>
              </a:rPr>
              <a:t>Interaction counts are workload proxies. Subjective workload data is still ahead.</a:t>
            </a:r>
          </a:p>
        </p:txBody>
      </p:sp>
    </p:spTree>
    <p:extLst>
      <p:ext uri="{BB962C8B-B14F-4D97-AF65-F5344CB8AC3E}">
        <p14:creationId xmlns:p14="http://schemas.microsoft.com/office/powerpoint/2010/main" val="1661817605"/>
      </p:ext>
    </p:extLst>
  </p:cSld>
</p:sld>
</file>

<file path=ppt/slides/slide9.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604B73-6A2F-4903-A965-BC7A88446F21}"/>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629"/>
                </a:solidFill>
                <a:latin typeface="DM Sans"/>
                <a:ea typeface="DM Sans"/>
                <a:cs typeface="DM Sans"/>
              </a:defRPr>
            </a:pPr>
            <a:r>
              <a:rPr sz="3600" b="1">
                <a:solidFill>
                  <a:srgbClr val="171629"/>
                </a:solidFill>
                <a:latin typeface="DM Sans"/>
                <a:ea typeface="DM Sans"/>
                <a:cs typeface="DM Sans"/>
              </a:rPr>
              <a:t>Next: validate the research question</a:t>
            </a:r>
          </a:p>
        </p:txBody>
      </p:sp>
      <p:sp>
        <p:nvSpPr>
          <p:cNvPr id="2" name="">
            <a:extLst xmlns:a="http://schemas.openxmlformats.org/drawingml/2006/main">
              <a:ext uri="{FF2B5EF4-FFF2-40B4-BE49-F238E27FC236}">
                <a16:creationId xmlns:a16="http://schemas.microsoft.com/office/drawing/2014/main" id="{8A1068F0-AD5C-4D29-8D22-0E829A730D89}"/>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09</a:t>
            </a:r>
          </a:p>
        </p:txBody>
      </p:sp>
      <p:sp>
        <p:nvSpPr>
          <p:cNvPr id="3" name="">
            <a:extLst xmlns:a="http://schemas.openxmlformats.org/drawingml/2006/main">
              <a:ext uri="{FF2B5EF4-FFF2-40B4-BE49-F238E27FC236}">
                <a16:creationId xmlns:a16="http://schemas.microsoft.com/office/drawing/2014/main" id="{2EF4551D-0E56-42E9-A1A8-2CDDA95E43E2}"/>
              </a:ext>
            </a:extLst>
          </p:cNvPr>
          <p:cNvSpPr>
            <a:spLocks xmlns:a="http://schemas.openxmlformats.org/drawingml/2006/main" noGrp="1"/>
          </p:cNvSpPr>
          <p:nvPr/>
        </p:nvSpPr>
        <p:spPr>
          <a:xfrm xmlns:a="http://schemas.openxmlformats.org/drawingml/2006/main">
            <a:off x="685800" y="19050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CF8F58-A368-44C9-8AC2-B0E9673DAACC}"/>
              </a:ext>
            </a:extLst>
          </p:cNvPr>
          <p:cNvSpPr>
            <a:spLocks xmlns:a="http://schemas.openxmlformats.org/drawingml/2006/main" noGrp="1"/>
          </p:cNvSpPr>
          <p:nvPr/>
        </p:nvSpPr>
        <p:spPr>
          <a:xfrm xmlns:a="http://schemas.openxmlformats.org/drawingml/2006/main">
            <a:off x="685800" y="21145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Operator study</a:t>
            </a:r>
          </a:p>
        </p:txBody>
      </p:sp>
      <p:sp>
        <p:nvSpPr>
          <p:cNvPr id="5" name="">
            <a:extLst xmlns:a="http://schemas.openxmlformats.org/drawingml/2006/main">
              <a:ext uri="{FF2B5EF4-FFF2-40B4-BE49-F238E27FC236}">
                <a16:creationId xmlns:a16="http://schemas.microsoft.com/office/drawing/2014/main" id="{087BED66-60A7-4FC2-AC54-ABFCAF7B23E6}"/>
              </a:ext>
            </a:extLst>
          </p:cNvPr>
          <p:cNvSpPr>
            <a:spLocks xmlns:a="http://schemas.openxmlformats.org/drawingml/2006/main" noGrp="1"/>
          </p:cNvSpPr>
          <p:nvPr/>
        </p:nvSpPr>
        <p:spPr>
          <a:xfrm xmlns:a="http://schemas.openxmlformats.org/drawingml/2006/main">
            <a:off x="4000500" y="21145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Run balanced fleet-size and autonomy trials across recorded scenario seeds.</a:t>
            </a:r>
          </a:p>
        </p:txBody>
      </p:sp>
      <p:sp>
        <p:nvSpPr>
          <p:cNvPr id="6" name="">
            <a:extLst xmlns:a="http://schemas.openxmlformats.org/drawingml/2006/main">
              <a:ext uri="{FF2B5EF4-FFF2-40B4-BE49-F238E27FC236}">
                <a16:creationId xmlns:a16="http://schemas.microsoft.com/office/drawing/2014/main" id="{CF3E995C-0044-4AB3-8B09-2F497C4D5C26}"/>
              </a:ext>
            </a:extLst>
          </p:cNvPr>
          <p:cNvSpPr>
            <a:spLocks xmlns:a="http://schemas.openxmlformats.org/drawingml/2006/main" noGrp="1"/>
          </p:cNvSpPr>
          <p:nvPr/>
        </p:nvSpPr>
        <p:spPr>
          <a:xfrm xmlns:a="http://schemas.openxmlformats.org/drawingml/2006/main">
            <a:off x="685800" y="314325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761872-4F13-431E-8F1D-5425A6E4B0A1}"/>
              </a:ext>
            </a:extLst>
          </p:cNvPr>
          <p:cNvSpPr>
            <a:spLocks xmlns:a="http://schemas.openxmlformats.org/drawingml/2006/main" noGrp="1"/>
          </p:cNvSpPr>
          <p:nvPr/>
        </p:nvSpPr>
        <p:spPr>
          <a:xfrm xmlns:a="http://schemas.openxmlformats.org/drawingml/2006/main">
            <a:off x="685800" y="33528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Physical validation</a:t>
            </a:r>
          </a:p>
        </p:txBody>
      </p:sp>
      <p:sp>
        <p:nvSpPr>
          <p:cNvPr id="8" name="">
            <a:extLst xmlns:a="http://schemas.openxmlformats.org/drawingml/2006/main">
              <a:ext uri="{FF2B5EF4-FFF2-40B4-BE49-F238E27FC236}">
                <a16:creationId xmlns:a16="http://schemas.microsoft.com/office/drawing/2014/main" id="{CB8C695C-CAD6-49AB-9851-9E097A5F386E}"/>
              </a:ext>
            </a:extLst>
          </p:cNvPr>
          <p:cNvSpPr>
            <a:spLocks xmlns:a="http://schemas.openxmlformats.org/drawingml/2006/main" noGrp="1"/>
          </p:cNvSpPr>
          <p:nvPr/>
        </p:nvSpPr>
        <p:spPr>
          <a:xfrm xmlns:a="http://schemas.openxmlformats.org/drawingml/2006/main">
            <a:off x="4000500" y="335280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Check phone behavior, calibrate braking and validate the real chassis.</a:t>
            </a:r>
          </a:p>
        </p:txBody>
      </p:sp>
      <p:sp>
        <p:nvSpPr>
          <p:cNvPr id="9" name="">
            <a:extLst xmlns:a="http://schemas.openxmlformats.org/drawingml/2006/main">
              <a:ext uri="{FF2B5EF4-FFF2-40B4-BE49-F238E27FC236}">
                <a16:creationId xmlns:a16="http://schemas.microsoft.com/office/drawing/2014/main" id="{DBE1D6E5-2707-4383-8DB2-5793DFC455C5}"/>
              </a:ext>
            </a:extLst>
          </p:cNvPr>
          <p:cNvSpPr>
            <a:spLocks xmlns:a="http://schemas.openxmlformats.org/drawingml/2006/main" noGrp="1"/>
          </p:cNvSpPr>
          <p:nvPr/>
        </p:nvSpPr>
        <p:spPr>
          <a:xfrm xmlns:a="http://schemas.openxmlformats.org/drawingml/2006/main">
            <a:off x="685800" y="43815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923C99-8E63-4B11-B27D-F21CF4B965AB}"/>
              </a:ext>
            </a:extLst>
          </p:cNvPr>
          <p:cNvSpPr>
            <a:spLocks xmlns:a="http://schemas.openxmlformats.org/drawingml/2006/main" noGrp="1"/>
          </p:cNvSpPr>
          <p:nvPr/>
        </p:nvSpPr>
        <p:spPr>
          <a:xfrm xmlns:a="http://schemas.openxmlformats.org/drawingml/2006/main">
            <a:off x="685800" y="4591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629"/>
                </a:solidFill>
                <a:latin typeface="DM Sans"/>
                <a:ea typeface="DM Sans"/>
                <a:cs typeface="DM Sans"/>
              </a:defRPr>
            </a:pPr>
            <a:r>
              <a:rPr sz="2100" b="1">
                <a:solidFill>
                  <a:srgbClr val="171629"/>
                </a:solidFill>
                <a:latin typeface="DM Sans"/>
                <a:ea typeface="DM Sans"/>
                <a:cs typeface="DM Sans"/>
              </a:rPr>
              <a:t>Research extensions</a:t>
            </a:r>
          </a:p>
        </p:txBody>
      </p:sp>
      <p:sp>
        <p:nvSpPr>
          <p:cNvPr id="11" name="">
            <a:extLst xmlns:a="http://schemas.openxmlformats.org/drawingml/2006/main">
              <a:ext uri="{FF2B5EF4-FFF2-40B4-BE49-F238E27FC236}">
                <a16:creationId xmlns:a16="http://schemas.microsoft.com/office/drawing/2014/main" id="{675D9F14-5EC5-4B17-AD3D-619DCDF5E10A}"/>
              </a:ext>
            </a:extLst>
          </p:cNvPr>
          <p:cNvSpPr>
            <a:spLocks xmlns:a="http://schemas.openxmlformats.org/drawingml/2006/main" noGrp="1"/>
          </p:cNvSpPr>
          <p:nvPr/>
        </p:nvSpPr>
        <p:spPr>
          <a:xfrm xmlns:a="http://schemas.openxmlformats.org/drawingml/2006/main">
            <a:off x="4000500" y="45910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Collaborative mapping, attention ranking and phone-local VLA remain future work.</a:t>
            </a:r>
          </a:p>
        </p:txBody>
      </p:sp>
      <p:sp>
        <p:nvSpPr>
          <p:cNvPr id="12" name="">
            <a:extLst xmlns:a="http://schemas.openxmlformats.org/drawingml/2006/main">
              <a:ext uri="{FF2B5EF4-FFF2-40B4-BE49-F238E27FC236}">
                <a16:creationId xmlns:a16="http://schemas.microsoft.com/office/drawing/2014/main" id="{2060C404-3F47-45CE-A5D9-D89E89BC1232}"/>
              </a:ext>
            </a:extLst>
          </p:cNvPr>
          <p:cNvSpPr>
            <a:spLocks xmlns:a="http://schemas.openxmlformats.org/drawingml/2006/main" noGrp="1"/>
          </p:cNvSpPr>
          <p:nvPr/>
        </p:nvSpPr>
        <p:spPr>
          <a:xfrm xmlns:a="http://schemas.openxmlformats.org/drawingml/2006/main">
            <a:off x="685800" y="58102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629"/>
                </a:solidFill>
                <a:latin typeface="DM Sans"/>
                <a:ea typeface="DM Sans"/>
                <a:cs typeface="DM Sans"/>
              </a:defRPr>
            </a:pPr>
            <a:r>
              <a:rPr sz="1800" b="1">
                <a:solidFill>
                  <a:srgbClr val="171629"/>
                </a:solidFill>
                <a:latin typeface="DM Sans"/>
                <a:ea typeface="DM Sans"/>
                <a:cs typeface="DM Sans"/>
              </a:rPr>
              <a:t>Current milestone: a shared autonomy stack with a documented fleet control flow</a:t>
            </a:r>
          </a:p>
        </p:txBody>
      </p:sp>
    </p:spTree>
    <p:extLst>
      <p:ext uri="{BB962C8B-B14F-4D97-AF65-F5344CB8AC3E}">
        <p14:creationId xmlns:p14="http://schemas.microsoft.com/office/powerpoint/2010/main" val="2013000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2026-10-06T15:54:53.2110000Z</dcterms:created>
  <dcterms:modified xsi:type="dcterms:W3CDTF">2026-10-06T15:54:53.2110000Z</dcterms:modified>
</coreProperties>
</file>